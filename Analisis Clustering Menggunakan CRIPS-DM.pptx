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67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F1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0F15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F1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F15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3529" y="1039586"/>
            <a:ext cx="424733" cy="503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1187" y="1039586"/>
            <a:ext cx="3209097" cy="5039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29520" y="1149836"/>
            <a:ext cx="361810" cy="5197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75313" y="3858824"/>
            <a:ext cx="0" cy="5229225"/>
          </a:xfrm>
          <a:custGeom>
            <a:avLst/>
            <a:gdLst/>
            <a:ahLst/>
            <a:cxnLst/>
            <a:rect l="l" t="t" r="r" b="b"/>
            <a:pathLst>
              <a:path h="5229225">
                <a:moveTo>
                  <a:pt x="0" y="5228986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571139" y="3858824"/>
            <a:ext cx="0" cy="5229225"/>
          </a:xfrm>
          <a:custGeom>
            <a:avLst/>
            <a:gdLst/>
            <a:ahLst/>
            <a:cxnLst/>
            <a:rect l="l" t="t" r="r" b="b"/>
            <a:pathLst>
              <a:path h="5229225">
                <a:moveTo>
                  <a:pt x="0" y="5228986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28120" y="1937329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F1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F1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0009" y="948134"/>
            <a:ext cx="4913564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F1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13328" y="3011376"/>
            <a:ext cx="8553450" cy="63787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0F15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12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5.png"/><Relationship Id="rId5" Type="http://schemas.openxmlformats.org/officeDocument/2006/relationships/image" Target="../media/image9.jp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12" Type="http://schemas.openxmlformats.org/officeDocument/2006/relationships/image" Target="../media/image4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11" Type="http://schemas.openxmlformats.org/officeDocument/2006/relationships/image" Target="../media/image31.jpg"/><Relationship Id="rId5" Type="http://schemas.openxmlformats.org/officeDocument/2006/relationships/image" Target="../media/image25.jpg"/><Relationship Id="rId10" Type="http://schemas.openxmlformats.org/officeDocument/2006/relationships/image" Target="../media/image30.jpg"/><Relationship Id="rId4" Type="http://schemas.openxmlformats.org/officeDocument/2006/relationships/image" Target="../media/image24.png"/><Relationship Id="rId9" Type="http://schemas.openxmlformats.org/officeDocument/2006/relationships/image" Target="../media/image29.jp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jpg"/><Relationship Id="rId7" Type="http://schemas.openxmlformats.org/officeDocument/2006/relationships/image" Target="../media/image52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10" Type="http://schemas.openxmlformats.org/officeDocument/2006/relationships/image" Target="../media/image55.png"/><Relationship Id="rId4" Type="http://schemas.openxmlformats.org/officeDocument/2006/relationships/image" Target="../media/image49.jpg"/><Relationship Id="rId9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25" dirty="0">
                <a:solidFill>
                  <a:srgbClr val="0E1626"/>
                </a:solidFill>
              </a:rPr>
              <a:t>1.</a:t>
            </a:r>
            <a:r>
              <a:rPr spc="75" dirty="0">
                <a:solidFill>
                  <a:srgbClr val="0E1626"/>
                </a:solidFill>
              </a:rPr>
              <a:t> </a:t>
            </a:r>
            <a:r>
              <a:rPr spc="330" dirty="0">
                <a:solidFill>
                  <a:srgbClr val="0E1626"/>
                </a:solidFill>
              </a:rPr>
              <a:t>Business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30079" y="798507"/>
            <a:ext cx="179705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spc="105" dirty="0">
                <a:solidFill>
                  <a:srgbClr val="0E1626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2022" y="1054446"/>
            <a:ext cx="58864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spc="75" dirty="0">
                <a:solidFill>
                  <a:srgbClr val="0E1626"/>
                </a:solidFill>
                <a:latin typeface="Arial"/>
                <a:cs typeface="Arial"/>
              </a:rPr>
              <a:t>1n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9485" y="4184750"/>
            <a:ext cx="7508240" cy="3977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150" b="1" spc="120" dirty="0">
                <a:solidFill>
                  <a:srgbClr val="2660E4"/>
                </a:solidFill>
                <a:latin typeface="Arial"/>
                <a:cs typeface="Arial"/>
              </a:rPr>
              <a:t>A</a:t>
            </a:r>
            <a:r>
              <a:rPr lang="en-US" sz="4150" b="1" spc="120" dirty="0">
                <a:solidFill>
                  <a:srgbClr val="2660E4"/>
                </a:solidFill>
                <a:latin typeface="Arial"/>
                <a:cs typeface="Arial"/>
              </a:rPr>
              <a:t>.</a:t>
            </a:r>
            <a:r>
              <a:rPr sz="4150" b="1" spc="-220" dirty="0">
                <a:solidFill>
                  <a:srgbClr val="2660E4"/>
                </a:solidFill>
                <a:latin typeface="Arial"/>
                <a:cs typeface="Arial"/>
              </a:rPr>
              <a:t> </a:t>
            </a:r>
            <a:r>
              <a:rPr sz="3450" b="1" spc="40" dirty="0">
                <a:solidFill>
                  <a:srgbClr val="2660E4"/>
                </a:solidFill>
                <a:latin typeface="Arial"/>
                <a:cs typeface="Arial"/>
              </a:rPr>
              <a:t>Permasalahan</a:t>
            </a:r>
            <a:endParaRPr sz="3450" dirty="0">
              <a:latin typeface="Arial"/>
              <a:cs typeface="Arial"/>
            </a:endParaRPr>
          </a:p>
          <a:p>
            <a:pPr marL="12700" marR="5080" indent="7620">
              <a:lnSpc>
                <a:spcPct val="132200"/>
              </a:lnSpc>
              <a:spcBef>
                <a:spcPts val="2325"/>
              </a:spcBef>
            </a:pP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Kita</a:t>
            </a:r>
            <a:r>
              <a:rPr sz="3000" spc="21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memiliki</a:t>
            </a:r>
            <a:r>
              <a:rPr sz="3000" spc="3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data</a:t>
            </a:r>
            <a:r>
              <a:rPr sz="3000" spc="2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333D4F"/>
                </a:solidFill>
                <a:latin typeface="Arial"/>
                <a:cs typeface="Arial"/>
              </a:rPr>
              <a:t>statistik</a:t>
            </a:r>
            <a:r>
              <a:rPr sz="3000" spc="28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pernikahan</a:t>
            </a:r>
            <a:r>
              <a:rPr sz="3000" spc="37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5" dirty="0">
                <a:solidFill>
                  <a:srgbClr val="333D4F"/>
                </a:solidFill>
                <a:latin typeface="Arial"/>
                <a:cs typeface="Arial"/>
              </a:rPr>
              <a:t>dan </a:t>
            </a:r>
            <a:r>
              <a:rPr sz="3000" spc="50" dirty="0">
                <a:solidFill>
                  <a:srgbClr val="333D4F"/>
                </a:solidFill>
                <a:latin typeface="Arial"/>
                <a:cs typeface="Arial"/>
              </a:rPr>
              <a:t>perceraian</a:t>
            </a:r>
            <a:r>
              <a:rPr sz="3000" spc="36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yang</a:t>
            </a:r>
            <a:r>
              <a:rPr sz="3000" spc="18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besar</a:t>
            </a:r>
            <a:r>
              <a:rPr sz="3000" spc="3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333D4F"/>
                </a:solidFill>
                <a:latin typeface="Arial"/>
                <a:cs typeface="Arial"/>
              </a:rPr>
              <a:t>dari</a:t>
            </a:r>
            <a:r>
              <a:rPr sz="3000" spc="8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160" dirty="0">
                <a:solidFill>
                  <a:srgbClr val="333D4F"/>
                </a:solidFill>
                <a:latin typeface="Arial"/>
                <a:cs typeface="Arial"/>
              </a:rPr>
              <a:t>33</a:t>
            </a:r>
            <a:r>
              <a:rPr sz="3000" spc="1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333D4F"/>
                </a:solidFill>
                <a:latin typeface="Arial"/>
                <a:cs typeface="Arial"/>
              </a:rPr>
              <a:t>provinsi</a:t>
            </a:r>
            <a:r>
              <a:rPr sz="3000" spc="204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0" dirty="0">
                <a:solidFill>
                  <a:srgbClr val="333D4F"/>
                </a:solidFill>
                <a:latin typeface="Arial"/>
                <a:cs typeface="Arial"/>
              </a:rPr>
              <a:t>di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Indonesia,</a:t>
            </a:r>
            <a:r>
              <a:rPr sz="3000" spc="40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namun</a:t>
            </a:r>
            <a:r>
              <a:rPr sz="3000" spc="2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pola</a:t>
            </a:r>
            <a:r>
              <a:rPr sz="3000" spc="3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333D4F"/>
                </a:solidFill>
                <a:latin typeface="Arial"/>
                <a:cs typeface="Arial"/>
              </a:rPr>
              <a:t>demografis</a:t>
            </a:r>
            <a:r>
              <a:rPr sz="3000" spc="61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5" dirty="0">
                <a:solidFill>
                  <a:srgbClr val="333D4F"/>
                </a:solidFill>
                <a:latin typeface="Arial"/>
                <a:cs typeface="Arial"/>
              </a:rPr>
              <a:t>dan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pengelompokan</a:t>
            </a:r>
            <a:r>
              <a:rPr sz="3000" spc="509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wilayah</a:t>
            </a:r>
            <a:r>
              <a:rPr sz="3000" spc="26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belum</a:t>
            </a:r>
            <a:r>
              <a:rPr sz="3000" spc="2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0" dirty="0">
                <a:solidFill>
                  <a:srgbClr val="333D4F"/>
                </a:solidFill>
                <a:latin typeface="Arial"/>
                <a:cs typeface="Arial"/>
              </a:rPr>
              <a:t>terlihat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jelas</a:t>
            </a:r>
            <a:r>
              <a:rPr sz="3000" spc="29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333D4F"/>
                </a:solidFill>
                <a:latin typeface="Arial"/>
                <a:cs typeface="Arial"/>
              </a:rPr>
              <a:t>dari</a:t>
            </a:r>
            <a:r>
              <a:rPr sz="3000" spc="15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data</a:t>
            </a:r>
            <a:r>
              <a:rPr sz="3000" spc="21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mentah</a:t>
            </a:r>
            <a:r>
              <a:rPr sz="3000" spc="19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333D4F"/>
                </a:solidFill>
                <a:latin typeface="Arial"/>
                <a:cs typeface="Arial"/>
              </a:rPr>
              <a:t>tersebut.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177" y="4239875"/>
            <a:ext cx="7357109" cy="3922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50" b="1" spc="145" dirty="0">
                <a:solidFill>
                  <a:srgbClr val="2660E4"/>
                </a:solidFill>
                <a:latin typeface="Arial"/>
                <a:cs typeface="Arial"/>
              </a:rPr>
              <a:t>B.</a:t>
            </a:r>
            <a:r>
              <a:rPr sz="3650" spc="-350" dirty="0">
                <a:solidFill>
                  <a:srgbClr val="2660E4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2660E4"/>
                </a:solidFill>
                <a:latin typeface="Arial"/>
                <a:cs typeface="Arial"/>
              </a:rPr>
              <a:t>Tujuan</a:t>
            </a:r>
            <a:r>
              <a:rPr sz="3450" b="1" spc="175" dirty="0">
                <a:solidFill>
                  <a:srgbClr val="2660E4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2660E4"/>
                </a:solidFill>
                <a:latin typeface="Arial"/>
                <a:cs typeface="Arial"/>
              </a:rPr>
              <a:t>Analisis</a:t>
            </a:r>
            <a:endParaRPr sz="3450" dirty="0">
              <a:latin typeface="Arial"/>
              <a:cs typeface="Arial"/>
            </a:endParaRPr>
          </a:p>
          <a:p>
            <a:pPr marL="43815" marR="5080" indent="-3810">
              <a:lnSpc>
                <a:spcPct val="132600"/>
              </a:lnSpc>
              <a:spcBef>
                <a:spcPts val="2415"/>
              </a:spcBef>
              <a:tabLst>
                <a:tab pos="5565140" algn="l"/>
              </a:tabLst>
            </a:pPr>
            <a:r>
              <a:rPr sz="3000" spc="95" dirty="0">
                <a:solidFill>
                  <a:srgbClr val="333D4F"/>
                </a:solidFill>
                <a:latin typeface="Arial"/>
                <a:cs typeface="Arial"/>
              </a:rPr>
              <a:t>Mengelompokkan</a:t>
            </a:r>
            <a:r>
              <a:rPr sz="3000" spc="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(Clustering)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	</a:t>
            </a:r>
            <a:r>
              <a:rPr sz="3000" spc="90" dirty="0">
                <a:solidFill>
                  <a:srgbClr val="333D4F"/>
                </a:solidFill>
                <a:latin typeface="Arial"/>
                <a:cs typeface="Arial"/>
              </a:rPr>
              <a:t>provinsi-</a:t>
            </a:r>
            <a:r>
              <a:rPr sz="3000" spc="85" dirty="0">
                <a:solidFill>
                  <a:srgbClr val="333D4F"/>
                </a:solidFill>
                <a:latin typeface="Arial"/>
                <a:cs typeface="Arial"/>
              </a:rPr>
              <a:t>provinsi</a:t>
            </a:r>
            <a:r>
              <a:rPr sz="3000" spc="2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333D4F"/>
                </a:solidFill>
                <a:latin typeface="Arial"/>
                <a:cs typeface="Arial"/>
              </a:rPr>
              <a:t>di</a:t>
            </a:r>
            <a:r>
              <a:rPr sz="3000" spc="15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Indonesia</a:t>
            </a:r>
            <a:r>
              <a:rPr sz="3000" spc="36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ke</a:t>
            </a:r>
            <a:r>
              <a:rPr sz="3000" spc="14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dalam</a:t>
            </a:r>
            <a:r>
              <a:rPr sz="3000" spc="20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120" dirty="0">
                <a:solidFill>
                  <a:srgbClr val="333D4F"/>
                </a:solidFill>
                <a:latin typeface="Arial"/>
                <a:cs typeface="Arial"/>
              </a:rPr>
              <a:t>grup-</a:t>
            </a:r>
            <a:r>
              <a:rPr sz="3000" spc="105" dirty="0">
                <a:solidFill>
                  <a:srgbClr val="333D4F"/>
                </a:solidFill>
                <a:latin typeface="Arial"/>
                <a:cs typeface="Arial"/>
              </a:rPr>
              <a:t>grup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yang</a:t>
            </a:r>
            <a:r>
              <a:rPr sz="3000" spc="21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memiliki</a:t>
            </a:r>
            <a:r>
              <a:rPr sz="3000" spc="2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karakteristik</a:t>
            </a:r>
            <a:r>
              <a:rPr sz="3000" spc="4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serupa</a:t>
            </a:r>
            <a:r>
              <a:rPr sz="3000" spc="30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untuk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memahami</a:t>
            </a:r>
            <a:r>
              <a:rPr sz="3000" spc="4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pola</a:t>
            </a:r>
            <a:r>
              <a:rPr sz="3000" spc="3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sosial</a:t>
            </a:r>
            <a:r>
              <a:rPr sz="3000" spc="32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dan</a:t>
            </a:r>
            <a:r>
              <a:rPr sz="3000" spc="1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beban </a:t>
            </a:r>
            <a:r>
              <a:rPr sz="3000" spc="80" dirty="0">
                <a:solidFill>
                  <a:srgbClr val="333D4F"/>
                </a:solidFill>
                <a:latin typeface="Arial"/>
                <a:cs typeface="Arial"/>
              </a:rPr>
              <a:t>demografi</a:t>
            </a:r>
            <a:r>
              <a:rPr sz="3000" spc="21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333D4F"/>
                </a:solidFill>
                <a:latin typeface="Arial"/>
                <a:cs typeface="Arial"/>
              </a:rPr>
              <a:t>masing-</a:t>
            </a:r>
            <a:r>
              <a:rPr sz="3000" spc="75" dirty="0">
                <a:solidFill>
                  <a:srgbClr val="333D4F"/>
                </a:solidFill>
                <a:latin typeface="Arial"/>
                <a:cs typeface="Arial"/>
              </a:rPr>
              <a:t>masing</a:t>
            </a:r>
            <a:r>
              <a:rPr sz="3000" spc="41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wilayah.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13" y="1039586"/>
            <a:ext cx="346079" cy="488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2136" y="1023832"/>
            <a:ext cx="424733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69793" y="1039586"/>
            <a:ext cx="3209097" cy="503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08126" y="1149836"/>
            <a:ext cx="361810" cy="519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0169" y="1039586"/>
            <a:ext cx="409002" cy="503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35134" y="1008087"/>
            <a:ext cx="3649561" cy="661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8121" y="1890083"/>
            <a:ext cx="18279268" cy="944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539684" y="4630575"/>
            <a:ext cx="8651980" cy="8662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39684" y="6331569"/>
            <a:ext cx="8651980" cy="47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39684" y="7213567"/>
            <a:ext cx="8651980" cy="31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539684" y="8048314"/>
            <a:ext cx="8651980" cy="629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539684" y="8914562"/>
            <a:ext cx="8651980" cy="629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15"/>
              </a:spcBef>
            </a:pPr>
            <a:r>
              <a:rPr b="0" dirty="0">
                <a:latin typeface="Arial"/>
                <a:cs typeface="Arial"/>
              </a:rPr>
              <a:t>.</a:t>
            </a:r>
            <a:r>
              <a:rPr b="0" spc="440" dirty="0">
                <a:latin typeface="Arial"/>
                <a:cs typeface="Arial"/>
              </a:rPr>
              <a:t> </a:t>
            </a:r>
            <a:r>
              <a:rPr spc="385" dirty="0"/>
              <a:t>Data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09104" y="806382"/>
            <a:ext cx="1803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125" dirty="0">
                <a:solidFill>
                  <a:srgbClr val="0F1626"/>
                </a:solidFill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00630" y="1054446"/>
            <a:ext cx="58864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spc="75" dirty="0">
                <a:solidFill>
                  <a:srgbClr val="0F1626"/>
                </a:solidFill>
                <a:latin typeface="Arial"/>
                <a:cs typeface="Arial"/>
              </a:rPr>
              <a:t>1n</a:t>
            </a:r>
            <a:endParaRPr sz="3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8694" y="3550814"/>
            <a:ext cx="1866900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spc="75" dirty="0">
                <a:solidFill>
                  <a:srgbClr val="0F1626"/>
                </a:solidFill>
                <a:latin typeface="Arial"/>
                <a:cs typeface="Arial"/>
              </a:rPr>
              <a:t>SumberData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26984" y="3936689"/>
            <a:ext cx="3411854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dirty="0">
                <a:solidFill>
                  <a:srgbClr val="0F1626"/>
                </a:solidFill>
                <a:latin typeface="Arial"/>
                <a:cs typeface="Arial"/>
              </a:rPr>
              <a:t>Atribut</a:t>
            </a:r>
            <a:r>
              <a:rPr sz="2300" b="1" spc="280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F1626"/>
                </a:solidFill>
                <a:latin typeface="Arial"/>
                <a:cs typeface="Arial"/>
              </a:rPr>
              <a:t>(Fitur)</a:t>
            </a:r>
            <a:r>
              <a:rPr sz="2300" b="1" spc="10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00" b="1" spc="70" dirty="0">
                <a:solidFill>
                  <a:srgbClr val="0F1626"/>
                </a:solidFill>
                <a:latin typeface="Arial"/>
                <a:cs typeface="Arial"/>
              </a:rPr>
              <a:t>Modeling</a:t>
            </a:r>
            <a:endParaRPr sz="2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9637" y="4181600"/>
            <a:ext cx="8481695" cy="1254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36600"/>
              </a:lnSpc>
              <a:spcBef>
                <a:spcPts val="95"/>
              </a:spcBef>
            </a:pPr>
            <a:r>
              <a:rPr sz="2950" dirty="0">
                <a:solidFill>
                  <a:srgbClr val="343D4F"/>
                </a:solidFill>
                <a:latin typeface="Arial"/>
                <a:cs typeface="Arial"/>
              </a:rPr>
              <a:t>Dataset</a:t>
            </a:r>
            <a:r>
              <a:rPr sz="2950" spc="29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950" spc="85" dirty="0">
                <a:solidFill>
                  <a:srgbClr val="343D4F"/>
                </a:solidFill>
                <a:latin typeface="Arial"/>
                <a:cs typeface="Arial"/>
              </a:rPr>
              <a:t>statistik</a:t>
            </a:r>
            <a:r>
              <a:rPr sz="2950" spc="254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950" spc="95" dirty="0">
                <a:solidFill>
                  <a:srgbClr val="343D4F"/>
                </a:solidFill>
                <a:latin typeface="Arial"/>
                <a:cs typeface="Arial"/>
              </a:rPr>
              <a:t>resmi</a:t>
            </a:r>
            <a:r>
              <a:rPr sz="2950" spc="12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950" spc="80" dirty="0">
                <a:solidFill>
                  <a:srgbClr val="343D4F"/>
                </a:solidFill>
                <a:latin typeface="Arial"/>
                <a:cs typeface="Arial"/>
              </a:rPr>
              <a:t>mencakup</a:t>
            </a:r>
            <a:r>
              <a:rPr sz="2950" spc="33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950" spc="95" dirty="0">
                <a:solidFill>
                  <a:srgbClr val="343D4F"/>
                </a:solidFill>
                <a:latin typeface="Arial"/>
                <a:cs typeface="Arial"/>
              </a:rPr>
              <a:t>33</a:t>
            </a:r>
            <a:r>
              <a:rPr sz="2950" spc="30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950" spc="60" dirty="0">
                <a:solidFill>
                  <a:srgbClr val="343D4F"/>
                </a:solidFill>
                <a:latin typeface="Arial"/>
                <a:cs typeface="Arial"/>
              </a:rPr>
              <a:t>Provinsi</a:t>
            </a:r>
            <a:r>
              <a:rPr sz="2950" spc="215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950" spc="35" dirty="0">
                <a:solidFill>
                  <a:srgbClr val="343D4F"/>
                </a:solidFill>
                <a:latin typeface="Arial"/>
                <a:cs typeface="Arial"/>
              </a:rPr>
              <a:t>di </a:t>
            </a:r>
            <a:r>
              <a:rPr sz="2950" spc="-10" dirty="0">
                <a:solidFill>
                  <a:srgbClr val="343D4F"/>
                </a:solidFill>
                <a:latin typeface="Arial"/>
                <a:cs typeface="Arial"/>
              </a:rPr>
              <a:t>Indonesia.</a:t>
            </a:r>
            <a:endParaRPr sz="2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8694" y="6181057"/>
            <a:ext cx="170497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spc="50" dirty="0">
                <a:solidFill>
                  <a:srgbClr val="0F1626"/>
                </a:solidFill>
                <a:latin typeface="Arial"/>
                <a:cs typeface="Arial"/>
              </a:rPr>
              <a:t>Status</a:t>
            </a:r>
            <a:r>
              <a:rPr sz="2300" b="1" spc="-15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00" b="1" spc="70" dirty="0">
                <a:solidFill>
                  <a:srgbClr val="0F1626"/>
                </a:solidFill>
                <a:latin typeface="Arial"/>
                <a:cs typeface="Arial"/>
              </a:rPr>
              <a:t>Data</a:t>
            </a:r>
            <a:endParaRPr sz="2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37797" y="6763805"/>
            <a:ext cx="6314440" cy="2263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49960" algn="l"/>
              </a:tabLst>
            </a:pPr>
            <a:r>
              <a:rPr sz="3600" b="1" spc="140" dirty="0">
                <a:solidFill>
                  <a:srgbClr val="189C4F"/>
                </a:solidFill>
                <a:latin typeface="Arial"/>
                <a:cs typeface="Arial"/>
              </a:rPr>
              <a:t>e</a:t>
            </a:r>
            <a:r>
              <a:rPr sz="3600" b="1" spc="41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189C4F"/>
                </a:solidFill>
                <a:latin typeface="Arial"/>
                <a:cs typeface="Arial"/>
              </a:rPr>
              <a:t>✓</a:t>
            </a:r>
            <a:r>
              <a:rPr sz="2550" dirty="0">
                <a:solidFill>
                  <a:srgbClr val="189C4F"/>
                </a:solidFill>
                <a:latin typeface="Arial"/>
                <a:cs typeface="Arial"/>
              </a:rPr>
              <a:t>	</a:t>
            </a:r>
            <a:r>
              <a:rPr sz="2950" dirty="0">
                <a:solidFill>
                  <a:srgbClr val="189C4F"/>
                </a:solidFill>
                <a:latin typeface="Arial"/>
                <a:cs typeface="Arial"/>
              </a:rPr>
              <a:t>Data</a:t>
            </a:r>
            <a:r>
              <a:rPr sz="2950" spc="12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spc="65" dirty="0">
                <a:solidFill>
                  <a:srgbClr val="189C4F"/>
                </a:solidFill>
                <a:latin typeface="Arial"/>
                <a:cs typeface="Arial"/>
              </a:rPr>
              <a:t>Bersih</a:t>
            </a:r>
            <a:r>
              <a:rPr sz="2950" spc="17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189C4F"/>
                </a:solidFill>
                <a:latin typeface="Arial"/>
                <a:cs typeface="Arial"/>
              </a:rPr>
              <a:t>(Clean)</a:t>
            </a:r>
            <a:endParaRPr sz="2950">
              <a:latin typeface="Arial"/>
              <a:cs typeface="Arial"/>
            </a:endParaRPr>
          </a:p>
          <a:p>
            <a:pPr marL="466090" indent="-448309">
              <a:lnSpc>
                <a:spcPct val="100000"/>
              </a:lnSpc>
              <a:spcBef>
                <a:spcPts val="3090"/>
              </a:spcBef>
              <a:buChar char="•"/>
              <a:tabLst>
                <a:tab pos="466090" algn="l"/>
                <a:tab pos="954405" algn="l"/>
              </a:tabLst>
            </a:pPr>
            <a:r>
              <a:rPr sz="2550" spc="-50" dirty="0">
                <a:solidFill>
                  <a:srgbClr val="189C4F"/>
                </a:solidFill>
                <a:latin typeface="Arial"/>
                <a:cs typeface="Arial"/>
              </a:rPr>
              <a:t>✓</a:t>
            </a:r>
            <a:r>
              <a:rPr sz="2550" dirty="0">
                <a:solidFill>
                  <a:srgbClr val="189C4F"/>
                </a:solidFill>
                <a:latin typeface="Arial"/>
                <a:cs typeface="Arial"/>
              </a:rPr>
              <a:t>	</a:t>
            </a:r>
            <a:r>
              <a:rPr sz="2950" spc="85" dirty="0">
                <a:solidFill>
                  <a:srgbClr val="189C4F"/>
                </a:solidFill>
                <a:latin typeface="Arial"/>
                <a:cs typeface="Arial"/>
              </a:rPr>
              <a:t>Tidak</a:t>
            </a:r>
            <a:r>
              <a:rPr sz="2950" spc="18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189C4F"/>
                </a:solidFill>
                <a:latin typeface="Arial"/>
                <a:cs typeface="Arial"/>
              </a:rPr>
              <a:t>ada</a:t>
            </a:r>
            <a:r>
              <a:rPr sz="2950" spc="120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spc="105" dirty="0">
                <a:solidFill>
                  <a:srgbClr val="189C4F"/>
                </a:solidFill>
                <a:latin typeface="Arial"/>
                <a:cs typeface="Arial"/>
              </a:rPr>
              <a:t>Missing</a:t>
            </a:r>
            <a:r>
              <a:rPr sz="2950" spc="28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189C4F"/>
                </a:solidFill>
                <a:latin typeface="Arial"/>
                <a:cs typeface="Arial"/>
              </a:rPr>
              <a:t>Value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20"/>
              </a:spcBef>
              <a:tabLst>
                <a:tab pos="954405" algn="l"/>
                <a:tab pos="4392930" algn="l"/>
              </a:tabLst>
            </a:pPr>
            <a:r>
              <a:rPr sz="3600" b="1" dirty="0">
                <a:solidFill>
                  <a:srgbClr val="189C4F"/>
                </a:solidFill>
                <a:latin typeface="Arial"/>
                <a:cs typeface="Arial"/>
              </a:rPr>
              <a:t>e</a:t>
            </a:r>
            <a:r>
              <a:rPr sz="3600" b="1" spc="49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89C4F"/>
                </a:solidFill>
                <a:latin typeface="Arial"/>
                <a:cs typeface="Arial"/>
              </a:rPr>
              <a:t>✓</a:t>
            </a:r>
            <a:r>
              <a:rPr sz="2550" dirty="0">
                <a:solidFill>
                  <a:srgbClr val="189C4F"/>
                </a:solidFill>
                <a:latin typeface="Arial"/>
                <a:cs typeface="Arial"/>
              </a:rPr>
              <a:t>	</a:t>
            </a:r>
            <a:r>
              <a:rPr sz="2950" spc="125" dirty="0">
                <a:solidFill>
                  <a:srgbClr val="189C4F"/>
                </a:solidFill>
                <a:latin typeface="Arial"/>
                <a:cs typeface="Arial"/>
              </a:rPr>
              <a:t>Tipe</a:t>
            </a:r>
            <a:r>
              <a:rPr sz="2950" spc="-25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189C4F"/>
                </a:solidFill>
                <a:latin typeface="Arial"/>
                <a:cs typeface="Arial"/>
              </a:rPr>
              <a:t>Data</a:t>
            </a:r>
            <a:r>
              <a:rPr sz="2950" spc="170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spc="50" dirty="0">
                <a:solidFill>
                  <a:srgbClr val="189C4F"/>
                </a:solidFill>
                <a:latin typeface="Arial"/>
                <a:cs typeface="Arial"/>
              </a:rPr>
              <a:t>Numerik</a:t>
            </a:r>
            <a:r>
              <a:rPr sz="2950" dirty="0">
                <a:solidFill>
                  <a:srgbClr val="189C4F"/>
                </a:solidFill>
                <a:latin typeface="Arial"/>
                <a:cs typeface="Arial"/>
              </a:rPr>
              <a:t>	(Siap</a:t>
            </a:r>
            <a:r>
              <a:rPr sz="2950" spc="180" dirty="0">
                <a:solidFill>
                  <a:srgbClr val="189C4F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189C4F"/>
                </a:solidFill>
                <a:latin typeface="Arial"/>
                <a:cs typeface="Arial"/>
              </a:rPr>
              <a:t>Olah)</a:t>
            </a:r>
            <a:endParaRPr sz="2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62336" y="5700684"/>
            <a:ext cx="86423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-10" dirty="0">
                <a:solidFill>
                  <a:srgbClr val="070308"/>
                </a:solidFill>
                <a:latin typeface="Arial"/>
                <a:cs typeface="Arial"/>
              </a:rPr>
              <a:t>Nikah</a:t>
            </a:r>
            <a:endParaRPr sz="2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62752" y="6566932"/>
            <a:ext cx="169418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55" dirty="0">
                <a:solidFill>
                  <a:srgbClr val="070308"/>
                </a:solidFill>
                <a:latin typeface="Arial"/>
                <a:cs typeface="Arial"/>
              </a:rPr>
              <a:t>Cerai</a:t>
            </a:r>
            <a:r>
              <a:rPr sz="2500" spc="7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70308"/>
                </a:solidFill>
                <a:latin typeface="Arial"/>
                <a:cs typeface="Arial"/>
              </a:rPr>
              <a:t>Talak</a:t>
            </a:r>
            <a:endParaRPr sz="2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762752" y="7433179"/>
            <a:ext cx="1796414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55" dirty="0">
                <a:solidFill>
                  <a:srgbClr val="070308"/>
                </a:solidFill>
                <a:latin typeface="Arial"/>
                <a:cs typeface="Arial"/>
              </a:rPr>
              <a:t>Cerai</a:t>
            </a:r>
            <a:r>
              <a:rPr sz="2500" spc="6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70308"/>
                </a:solidFill>
                <a:latin typeface="Arial"/>
                <a:cs typeface="Arial"/>
              </a:rPr>
              <a:t>Gugat</a:t>
            </a:r>
            <a:endParaRPr sz="2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61990" y="8299426"/>
            <a:ext cx="200533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60" dirty="0">
                <a:solidFill>
                  <a:srgbClr val="070308"/>
                </a:solidFill>
                <a:latin typeface="Arial"/>
                <a:cs typeface="Arial"/>
              </a:rPr>
              <a:t>Jumlah</a:t>
            </a:r>
            <a:r>
              <a:rPr sz="2500" spc="12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40" dirty="0">
                <a:solidFill>
                  <a:srgbClr val="070308"/>
                </a:solidFill>
                <a:latin typeface="Arial"/>
                <a:cs typeface="Arial"/>
              </a:rPr>
              <a:t>Cerai</a:t>
            </a:r>
            <a:endParaRPr sz="2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54597" y="5700684"/>
            <a:ext cx="348361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Total</a:t>
            </a:r>
            <a:r>
              <a:rPr sz="2500" spc="190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angka</a:t>
            </a:r>
            <a:r>
              <a:rPr sz="2500" spc="160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45" dirty="0">
                <a:solidFill>
                  <a:srgbClr val="070308"/>
                </a:solidFill>
                <a:latin typeface="Arial"/>
                <a:cs typeface="Arial"/>
              </a:rPr>
              <a:t>pernikahan</a:t>
            </a:r>
            <a:endParaRPr sz="2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53129" y="6566932"/>
            <a:ext cx="3967479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Perceraian</a:t>
            </a:r>
            <a:r>
              <a:rPr sz="2500" spc="58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diajukan</a:t>
            </a:r>
            <a:r>
              <a:rPr sz="2500" spc="550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70308"/>
                </a:solidFill>
                <a:latin typeface="Arial"/>
                <a:cs typeface="Arial"/>
              </a:rPr>
              <a:t>suami</a:t>
            </a:r>
            <a:endParaRPr sz="2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3129" y="7433179"/>
            <a:ext cx="364744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Perceraian</a:t>
            </a:r>
            <a:r>
              <a:rPr sz="2500" spc="58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diajukan</a:t>
            </a:r>
            <a:r>
              <a:rPr sz="2500" spc="459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105" dirty="0">
                <a:solidFill>
                  <a:srgbClr val="070308"/>
                </a:solidFill>
                <a:latin typeface="Arial"/>
                <a:cs typeface="Arial"/>
              </a:rPr>
              <a:t>istri</a:t>
            </a:r>
            <a:endParaRPr sz="2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4597" y="8299426"/>
            <a:ext cx="340804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dirty="0">
                <a:solidFill>
                  <a:srgbClr val="070308"/>
                </a:solidFill>
                <a:latin typeface="Arial"/>
                <a:cs typeface="Arial"/>
              </a:rPr>
              <a:t>Total</a:t>
            </a:r>
            <a:r>
              <a:rPr sz="2500" spc="8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50" dirty="0">
                <a:solidFill>
                  <a:srgbClr val="070308"/>
                </a:solidFill>
                <a:latin typeface="Arial"/>
                <a:cs typeface="Arial"/>
              </a:rPr>
              <a:t>kasus</a:t>
            </a:r>
            <a:r>
              <a:rPr sz="2500" spc="19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500" spc="55" dirty="0">
                <a:solidFill>
                  <a:srgbClr val="070308"/>
                </a:solidFill>
                <a:latin typeface="Arial"/>
                <a:cs typeface="Arial"/>
              </a:rPr>
              <a:t>perceraian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13" y="1039586"/>
            <a:ext cx="361810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1857" y="1008087"/>
            <a:ext cx="3114712" cy="661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2532" y="1023832"/>
            <a:ext cx="5458611" cy="519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70128" y="5307823"/>
            <a:ext cx="2375361" cy="23782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28120" y="1937329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7129" y="1227693"/>
            <a:ext cx="16700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10" dirty="0">
                <a:solidFill>
                  <a:srgbClr val="0C1526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1088" y="2843637"/>
            <a:ext cx="8028940" cy="72237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47700" indent="4445">
              <a:lnSpc>
                <a:spcPct val="134400"/>
              </a:lnSpc>
              <a:spcBef>
                <a:spcPts val="95"/>
              </a:spcBef>
            </a:pPr>
            <a:r>
              <a:rPr sz="3000" spc="110" dirty="0">
                <a:solidFill>
                  <a:srgbClr val="333D4F"/>
                </a:solidFill>
                <a:latin typeface="Arial"/>
                <a:cs typeface="Arial"/>
              </a:rPr>
              <a:t>Metode</a:t>
            </a:r>
            <a:r>
              <a:rPr sz="3000" spc="30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yang</a:t>
            </a:r>
            <a:r>
              <a:rPr sz="3000" spc="31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digunakan</a:t>
            </a:r>
            <a:r>
              <a:rPr sz="3000" spc="34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adalah</a:t>
            </a:r>
            <a:r>
              <a:rPr sz="3000" spc="18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b="1" spc="85" dirty="0">
                <a:solidFill>
                  <a:srgbClr val="333D4F"/>
                </a:solidFill>
                <a:latin typeface="Arial"/>
                <a:cs typeface="Arial"/>
              </a:rPr>
              <a:t>K-</a:t>
            </a:r>
            <a:r>
              <a:rPr sz="3000" b="1" spc="95" dirty="0">
                <a:solidFill>
                  <a:srgbClr val="333D4F"/>
                </a:solidFill>
                <a:latin typeface="Arial"/>
                <a:cs typeface="Arial"/>
              </a:rPr>
              <a:t>Means </a:t>
            </a:r>
            <a:r>
              <a:rPr sz="3000" b="1" spc="-10" dirty="0">
                <a:solidFill>
                  <a:srgbClr val="333D4F"/>
                </a:solidFill>
                <a:latin typeface="Arial"/>
                <a:cs typeface="Arial"/>
              </a:rPr>
              <a:t>Clustering.</a:t>
            </a:r>
            <a:endParaRPr sz="3000">
              <a:latin typeface="Arial"/>
              <a:cs typeface="Arial"/>
            </a:endParaRPr>
          </a:p>
          <a:p>
            <a:pPr marL="16510" marR="317500" indent="1270">
              <a:lnSpc>
                <a:spcPct val="132600"/>
              </a:lnSpc>
              <a:spcBef>
                <a:spcPts val="2915"/>
              </a:spcBef>
            </a:pP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Langkah</a:t>
            </a:r>
            <a:r>
              <a:rPr sz="3000" spc="29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paling</a:t>
            </a:r>
            <a:r>
              <a:rPr sz="3000" spc="26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45" dirty="0">
                <a:solidFill>
                  <a:srgbClr val="333D4F"/>
                </a:solidFill>
                <a:latin typeface="Arial"/>
                <a:cs typeface="Arial"/>
              </a:rPr>
              <a:t>krusial</a:t>
            </a:r>
            <a:r>
              <a:rPr sz="3000" spc="32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dalam</a:t>
            </a:r>
            <a:r>
              <a:rPr sz="3000" spc="14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K-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Means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adalah</a:t>
            </a:r>
            <a:r>
              <a:rPr sz="3000" spc="2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menentukan</a:t>
            </a:r>
            <a:r>
              <a:rPr sz="3000" spc="434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jumlah</a:t>
            </a:r>
            <a:r>
              <a:rPr sz="3000" spc="20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333D4F"/>
                </a:solidFill>
                <a:latin typeface="Arial"/>
                <a:cs typeface="Arial"/>
              </a:rPr>
              <a:t>cluster</a:t>
            </a:r>
            <a:r>
              <a:rPr sz="3000" spc="40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(K)</a:t>
            </a:r>
            <a:r>
              <a:rPr sz="3000" spc="4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333D4F"/>
                </a:solidFill>
                <a:latin typeface="Arial"/>
                <a:cs typeface="Arial"/>
              </a:rPr>
              <a:t>yang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paling</a:t>
            </a:r>
            <a:r>
              <a:rPr sz="3000" spc="204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0" dirty="0">
                <a:solidFill>
                  <a:srgbClr val="333D4F"/>
                </a:solidFill>
                <a:latin typeface="Arial"/>
                <a:cs typeface="Arial"/>
              </a:rPr>
              <a:t>optimal</a:t>
            </a:r>
            <a:r>
              <a:rPr sz="3000" spc="24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agar</a:t>
            </a:r>
            <a:r>
              <a:rPr sz="3000" spc="19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pengelompokan</a:t>
            </a:r>
            <a:r>
              <a:rPr sz="3000" spc="39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333D4F"/>
                </a:solidFill>
                <a:latin typeface="Arial"/>
                <a:cs typeface="Arial"/>
              </a:rPr>
              <a:t>data </a:t>
            </a:r>
            <a:r>
              <a:rPr sz="3000" spc="40" dirty="0">
                <a:solidFill>
                  <a:srgbClr val="333D4F"/>
                </a:solidFill>
                <a:latin typeface="Arial"/>
                <a:cs typeface="Arial"/>
              </a:rPr>
              <a:t>valid.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3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Saya</a:t>
            </a:r>
            <a:r>
              <a:rPr sz="3000" spc="229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menggunakan</a:t>
            </a:r>
            <a:r>
              <a:rPr sz="3000" spc="38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dua</a:t>
            </a:r>
            <a:r>
              <a:rPr sz="3000" spc="16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5" dirty="0">
                <a:solidFill>
                  <a:srgbClr val="333D4F"/>
                </a:solidFill>
                <a:latin typeface="Arial"/>
                <a:cs typeface="Arial"/>
              </a:rPr>
              <a:t>pendekatan</a:t>
            </a:r>
            <a:r>
              <a:rPr sz="3000" spc="31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validasi: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3000">
              <a:latin typeface="Arial"/>
              <a:cs typeface="Arial"/>
            </a:endParaRPr>
          </a:p>
          <a:p>
            <a:pPr marL="640080" indent="-362585">
              <a:lnSpc>
                <a:spcPct val="100000"/>
              </a:lnSpc>
              <a:buFont typeface="Arial"/>
              <a:buChar char="•"/>
              <a:tabLst>
                <a:tab pos="640080" algn="l"/>
              </a:tabLst>
            </a:pPr>
            <a:r>
              <a:rPr sz="3000" b="1" spc="100" dirty="0">
                <a:solidFill>
                  <a:srgbClr val="333D4F"/>
                </a:solidFill>
                <a:latin typeface="Arial"/>
                <a:cs typeface="Arial"/>
              </a:rPr>
              <a:t>Metode</a:t>
            </a:r>
            <a:r>
              <a:rPr sz="3000" b="1" spc="-19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333D4F"/>
                </a:solidFill>
                <a:latin typeface="Arial"/>
                <a:cs typeface="Arial"/>
              </a:rPr>
              <a:t>Elbow</a:t>
            </a:r>
            <a:r>
              <a:rPr sz="3000" b="1" spc="26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(Mencari</a:t>
            </a:r>
            <a:r>
              <a:rPr sz="3000" spc="19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105" dirty="0">
                <a:solidFill>
                  <a:srgbClr val="333D4F"/>
                </a:solidFill>
                <a:latin typeface="Arial"/>
                <a:cs typeface="Arial"/>
              </a:rPr>
              <a:t>titik</a:t>
            </a:r>
            <a:r>
              <a:rPr sz="3000" spc="17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siku)</a:t>
            </a:r>
            <a:endParaRPr sz="3000">
              <a:latin typeface="Arial"/>
              <a:cs typeface="Arial"/>
            </a:endParaRPr>
          </a:p>
          <a:p>
            <a:pPr marL="640080" marR="1423035" indent="-362585">
              <a:lnSpc>
                <a:spcPct val="130900"/>
              </a:lnSpc>
              <a:spcBef>
                <a:spcPts val="125"/>
              </a:spcBef>
              <a:buFont typeface="Arial"/>
              <a:buChar char="•"/>
              <a:tabLst>
                <a:tab pos="645795" algn="l"/>
              </a:tabLst>
            </a:pPr>
            <a:r>
              <a:rPr sz="3000" b="1" spc="100" dirty="0">
                <a:solidFill>
                  <a:srgbClr val="333D4F"/>
                </a:solidFill>
                <a:latin typeface="Arial"/>
                <a:cs typeface="Arial"/>
              </a:rPr>
              <a:t>Metode</a:t>
            </a:r>
            <a:r>
              <a:rPr sz="3000" b="1" spc="-6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333D4F"/>
                </a:solidFill>
                <a:latin typeface="Arial"/>
                <a:cs typeface="Arial"/>
              </a:rPr>
              <a:t>Silhouette</a:t>
            </a:r>
            <a:r>
              <a:rPr sz="3000" b="1" spc="3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(Mencari</a:t>
            </a:r>
            <a:r>
              <a:rPr sz="3000" spc="409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333D4F"/>
                </a:solidFill>
                <a:latin typeface="Arial"/>
                <a:cs typeface="Arial"/>
              </a:rPr>
              <a:t>skor 	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tertinggi)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0653" y="1039586"/>
            <a:ext cx="440464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4041" y="1149836"/>
            <a:ext cx="361810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121" y="2898076"/>
            <a:ext cx="47192" cy="4031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9978" y="5307823"/>
            <a:ext cx="1934897" cy="8662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86685" y="5512572"/>
            <a:ext cx="534849" cy="535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7613" y="5307823"/>
            <a:ext cx="1966358" cy="866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23954" y="2898076"/>
            <a:ext cx="47192" cy="57802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85812" y="5307823"/>
            <a:ext cx="1934897" cy="8662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582516" y="5512572"/>
            <a:ext cx="534849" cy="535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463445" y="5307823"/>
            <a:ext cx="1966358" cy="8662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28120" y="1937329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15"/>
              </a:spcBef>
              <a:tabLst>
                <a:tab pos="826135" algn="l"/>
              </a:tabLst>
            </a:pPr>
            <a:r>
              <a:rPr spc="100" dirty="0">
                <a:solidFill>
                  <a:srgbClr val="0E1626"/>
                </a:solidFill>
              </a:rPr>
              <a:t>4.</a:t>
            </a:r>
            <a:r>
              <a:rPr dirty="0">
                <a:solidFill>
                  <a:srgbClr val="0E1626"/>
                </a:solidFill>
              </a:rPr>
              <a:t>	</a:t>
            </a:r>
            <a:r>
              <a:rPr spc="450" dirty="0">
                <a:solidFill>
                  <a:srgbClr val="0E1626"/>
                </a:solidFill>
              </a:rPr>
              <a:t>Penentuan</a:t>
            </a:r>
            <a:r>
              <a:rPr spc="505" dirty="0">
                <a:solidFill>
                  <a:srgbClr val="0E1626"/>
                </a:solidFill>
              </a:rPr>
              <a:t> </a:t>
            </a:r>
            <a:r>
              <a:rPr spc="204" dirty="0">
                <a:solidFill>
                  <a:srgbClr val="0E1626"/>
                </a:solidFill>
              </a:rPr>
              <a:t>K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00387" y="948134"/>
            <a:ext cx="156972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35" dirty="0">
                <a:solidFill>
                  <a:srgbClr val="0E1626"/>
                </a:solidFill>
                <a:latin typeface="Arial"/>
                <a:cs typeface="Arial"/>
              </a:rPr>
              <a:t>timal</a:t>
            </a:r>
            <a:endParaRPr sz="44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05431" y="266058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0" y="0"/>
                </a:moveTo>
                <a:lnTo>
                  <a:pt x="288058" y="0"/>
                </a:lnTo>
              </a:path>
            </a:pathLst>
          </a:custGeom>
          <a:ln w="32531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41800" y="2654469"/>
            <a:ext cx="459740" cy="0"/>
          </a:xfrm>
          <a:custGeom>
            <a:avLst/>
            <a:gdLst/>
            <a:ahLst/>
            <a:cxnLst/>
            <a:rect l="l" t="t" r="r" b="b"/>
            <a:pathLst>
              <a:path w="459739">
                <a:moveTo>
                  <a:pt x="0" y="0"/>
                </a:moveTo>
                <a:lnTo>
                  <a:pt x="459667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28344" y="2654469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3016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67361" y="2349878"/>
            <a:ext cx="14859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0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endParaRPr sz="3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63567" y="2621897"/>
            <a:ext cx="5653405" cy="0"/>
          </a:xfrm>
          <a:custGeom>
            <a:avLst/>
            <a:gdLst/>
            <a:ahLst/>
            <a:cxnLst/>
            <a:rect l="l" t="t" r="r" b="b"/>
            <a:pathLst>
              <a:path w="5653405">
                <a:moveTo>
                  <a:pt x="0" y="0"/>
                </a:moveTo>
                <a:lnTo>
                  <a:pt x="5653200" y="0"/>
                </a:lnTo>
              </a:path>
            </a:pathLst>
          </a:custGeom>
          <a:ln w="28075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19648" y="2684568"/>
            <a:ext cx="52069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35" dirty="0">
                <a:solidFill>
                  <a:srgbClr val="CCD1DB"/>
                </a:solidFill>
                <a:latin typeface="Times New Roman"/>
                <a:cs typeface="Times New Roman"/>
              </a:rPr>
              <a:t>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83254" y="2334128"/>
            <a:ext cx="100330" cy="51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530" dirty="0">
                <a:solidFill>
                  <a:srgbClr val="CCD1DB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23015" y="2654469"/>
            <a:ext cx="597535" cy="0"/>
          </a:xfrm>
          <a:custGeom>
            <a:avLst/>
            <a:gdLst/>
            <a:ahLst/>
            <a:cxnLst/>
            <a:rect l="l" t="t" r="r" b="b"/>
            <a:pathLst>
              <a:path w="597534">
                <a:moveTo>
                  <a:pt x="0" y="0"/>
                </a:moveTo>
                <a:lnTo>
                  <a:pt x="597175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809556" y="2654469"/>
            <a:ext cx="1215390" cy="0"/>
          </a:xfrm>
          <a:custGeom>
            <a:avLst/>
            <a:gdLst/>
            <a:ahLst/>
            <a:cxnLst/>
            <a:rect l="l" t="t" r="r" b="b"/>
            <a:pathLst>
              <a:path w="1215390">
                <a:moveTo>
                  <a:pt x="0" y="0"/>
                </a:moveTo>
                <a:lnTo>
                  <a:pt x="1215303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202087" y="2621897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33" y="0"/>
                </a:lnTo>
              </a:path>
            </a:pathLst>
          </a:custGeom>
          <a:ln w="28075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93869" y="8594738"/>
            <a:ext cx="141732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27025" algn="l"/>
                <a:tab pos="641350" algn="l"/>
                <a:tab pos="1270635" algn="l"/>
              </a:tabLst>
            </a:pPr>
            <a:r>
              <a:rPr sz="2900" spc="25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r>
              <a:rPr sz="2900" dirty="0">
                <a:solidFill>
                  <a:srgbClr val="CCD1DB"/>
                </a:solidFill>
                <a:latin typeface="Arial"/>
                <a:cs typeface="Arial"/>
              </a:rPr>
              <a:t>	</a:t>
            </a:r>
            <a:r>
              <a:rPr sz="2900" spc="25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r>
              <a:rPr sz="2900" dirty="0">
                <a:solidFill>
                  <a:srgbClr val="CCD1DB"/>
                </a:solidFill>
                <a:latin typeface="Arial"/>
                <a:cs typeface="Arial"/>
              </a:rPr>
              <a:t>	</a:t>
            </a:r>
            <a:r>
              <a:rPr sz="2900" spc="25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r>
              <a:rPr sz="2900" dirty="0">
                <a:solidFill>
                  <a:srgbClr val="CCD1DB"/>
                </a:solidFill>
                <a:latin typeface="Arial"/>
                <a:cs typeface="Arial"/>
              </a:rPr>
              <a:t>	</a:t>
            </a:r>
            <a:r>
              <a:rPr sz="2900" spc="25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endParaRPr sz="2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079656" y="8881816"/>
            <a:ext cx="399415" cy="0"/>
          </a:xfrm>
          <a:custGeom>
            <a:avLst/>
            <a:gdLst/>
            <a:ahLst/>
            <a:cxnLst/>
            <a:rect l="l" t="t" r="r" b="b"/>
            <a:pathLst>
              <a:path w="399414">
                <a:moveTo>
                  <a:pt x="0" y="0"/>
                </a:moveTo>
                <a:lnTo>
                  <a:pt x="398850" y="0"/>
                </a:lnTo>
              </a:path>
            </a:pathLst>
          </a:custGeom>
          <a:ln w="32531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08890" y="8881816"/>
            <a:ext cx="399415" cy="0"/>
          </a:xfrm>
          <a:custGeom>
            <a:avLst/>
            <a:gdLst/>
            <a:ahLst/>
            <a:cxnLst/>
            <a:rect l="l" t="t" r="r" b="b"/>
            <a:pathLst>
              <a:path w="399414">
                <a:moveTo>
                  <a:pt x="0" y="0"/>
                </a:moveTo>
                <a:lnTo>
                  <a:pt x="398850" y="0"/>
                </a:lnTo>
              </a:path>
            </a:pathLst>
          </a:custGeom>
          <a:ln w="32531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905646" y="8571114"/>
            <a:ext cx="46355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025" algn="l"/>
              </a:tabLst>
            </a:pPr>
            <a:r>
              <a:rPr sz="3100" spc="-50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r>
              <a:rPr sz="3100" dirty="0">
                <a:solidFill>
                  <a:srgbClr val="CCD1DB"/>
                </a:solidFill>
                <a:latin typeface="Arial"/>
                <a:cs typeface="Arial"/>
              </a:rPr>
              <a:t>	</a:t>
            </a:r>
            <a:r>
              <a:rPr sz="3100" spc="-50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endParaRPr sz="31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47580" y="8875705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>
                <a:moveTo>
                  <a:pt x="0" y="0"/>
                </a:moveTo>
                <a:lnTo>
                  <a:pt x="369305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76815" y="8875705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>
                <a:moveTo>
                  <a:pt x="0" y="0"/>
                </a:moveTo>
                <a:lnTo>
                  <a:pt x="369305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06050" y="8875705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>
                <a:moveTo>
                  <a:pt x="0" y="0"/>
                </a:moveTo>
                <a:lnTo>
                  <a:pt x="369305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435287" y="8875705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>
                <a:moveTo>
                  <a:pt x="0" y="0"/>
                </a:moveTo>
                <a:lnTo>
                  <a:pt x="369305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64522" y="8875705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0" y="0"/>
                </a:moveTo>
                <a:lnTo>
                  <a:pt x="288110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213693" y="8858549"/>
            <a:ext cx="208978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spc="125" dirty="0">
                <a:solidFill>
                  <a:srgbClr val="0E1626"/>
                </a:solidFill>
                <a:latin typeface="Arial"/>
                <a:cs typeface="Arial"/>
              </a:rPr>
              <a:t>Metode</a:t>
            </a:r>
            <a:r>
              <a:rPr sz="2300" b="1" spc="-19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E1626"/>
                </a:solidFill>
                <a:latin typeface="Arial"/>
                <a:cs typeface="Arial"/>
              </a:rPr>
              <a:t>Elbow</a:t>
            </a:r>
            <a:endParaRPr sz="23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771706" y="8877484"/>
            <a:ext cx="307340" cy="0"/>
          </a:xfrm>
          <a:custGeom>
            <a:avLst/>
            <a:gdLst/>
            <a:ahLst/>
            <a:cxnLst/>
            <a:rect l="l" t="t" r="r" b="b"/>
            <a:pathLst>
              <a:path w="307340">
                <a:moveTo>
                  <a:pt x="0" y="0"/>
                </a:moveTo>
                <a:lnTo>
                  <a:pt x="306759" y="0"/>
                </a:lnTo>
              </a:path>
            </a:pathLst>
          </a:custGeom>
          <a:ln w="35504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1375200" y="8858243"/>
            <a:ext cx="7145655" cy="40640"/>
            <a:chOff x="11375200" y="8858243"/>
            <a:chExt cx="7145655" cy="40640"/>
          </a:xfrm>
        </p:grpSpPr>
        <p:sp>
          <p:nvSpPr>
            <p:cNvPr id="38" name="object 38"/>
            <p:cNvSpPr/>
            <p:nvPr/>
          </p:nvSpPr>
          <p:spPr>
            <a:xfrm>
              <a:off x="11392662" y="8875705"/>
              <a:ext cx="7110730" cy="0"/>
            </a:xfrm>
            <a:custGeom>
              <a:avLst/>
              <a:gdLst/>
              <a:ahLst/>
              <a:cxnLst/>
              <a:rect l="l" t="t" r="r" b="b"/>
              <a:pathLst>
                <a:path w="7110730">
                  <a:moveTo>
                    <a:pt x="7110381" y="0"/>
                  </a:moveTo>
                  <a:lnTo>
                    <a:pt x="0" y="0"/>
                  </a:lnTo>
                </a:path>
              </a:pathLst>
            </a:custGeom>
            <a:ln w="34607">
              <a:solidFill>
                <a:srgbClr val="CBD0DA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675485" y="8881816"/>
              <a:ext cx="266065" cy="0"/>
            </a:xfrm>
            <a:custGeom>
              <a:avLst/>
              <a:gdLst/>
              <a:ahLst/>
              <a:cxnLst/>
              <a:rect l="l" t="t" r="r" b="b"/>
              <a:pathLst>
                <a:path w="266065">
                  <a:moveTo>
                    <a:pt x="0" y="0"/>
                  </a:moveTo>
                  <a:lnTo>
                    <a:pt x="265900" y="0"/>
                  </a:lnTo>
                </a:path>
              </a:pathLst>
            </a:custGeom>
            <a:ln w="32531">
              <a:solidFill>
                <a:srgbClr val="CBD0DA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190857" y="8594738"/>
            <a:ext cx="110236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956310" algn="l"/>
              </a:tabLst>
            </a:pPr>
            <a:r>
              <a:rPr sz="2900" spc="25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r>
              <a:rPr sz="2900" dirty="0">
                <a:solidFill>
                  <a:srgbClr val="CCD1DB"/>
                </a:solidFill>
                <a:latin typeface="Arial"/>
                <a:cs typeface="Arial"/>
              </a:rPr>
              <a:t>	</a:t>
            </a:r>
            <a:r>
              <a:rPr sz="2900" spc="25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endParaRPr sz="2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029549" y="8571114"/>
            <a:ext cx="14859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0" dirty="0">
                <a:solidFill>
                  <a:srgbClr val="CCD1DB"/>
                </a:solidFill>
                <a:latin typeface="Arial"/>
                <a:cs typeface="Arial"/>
              </a:rPr>
              <a:t>-</a:t>
            </a:r>
            <a:endParaRPr sz="31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15339" y="8875705"/>
            <a:ext cx="1628139" cy="0"/>
          </a:xfrm>
          <a:custGeom>
            <a:avLst/>
            <a:gdLst/>
            <a:ahLst/>
            <a:cxnLst/>
            <a:rect l="l" t="t" r="r" b="b"/>
            <a:pathLst>
              <a:path w="1628140">
                <a:moveTo>
                  <a:pt x="0" y="0"/>
                </a:moveTo>
                <a:lnTo>
                  <a:pt x="369305" y="0"/>
                </a:lnTo>
              </a:path>
              <a:path w="1628140">
                <a:moveTo>
                  <a:pt x="629234" y="0"/>
                </a:moveTo>
                <a:lnTo>
                  <a:pt x="998540" y="0"/>
                </a:lnTo>
              </a:path>
              <a:path w="1628140">
                <a:moveTo>
                  <a:pt x="1258469" y="0"/>
                </a:moveTo>
                <a:lnTo>
                  <a:pt x="1627775" y="0"/>
                </a:lnTo>
              </a:path>
            </a:pathLst>
          </a:custGeom>
          <a:ln w="34607">
            <a:solidFill>
              <a:srgbClr val="CBD0DA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3510637" y="8858549"/>
            <a:ext cx="268414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spc="125" dirty="0">
                <a:solidFill>
                  <a:srgbClr val="0E1626"/>
                </a:solidFill>
                <a:latin typeface="Arial"/>
                <a:cs typeface="Arial"/>
              </a:rPr>
              <a:t>Metode</a:t>
            </a:r>
            <a:r>
              <a:rPr sz="2300" b="1" spc="-10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E1626"/>
                </a:solidFill>
                <a:latin typeface="Arial"/>
                <a:cs typeface="Arial"/>
              </a:rPr>
              <a:t>Silhouette</a:t>
            </a:r>
            <a:endParaRPr sz="2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84599" y="9533114"/>
            <a:ext cx="8324215" cy="12198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256279" marR="5080" indent="-3244215">
              <a:lnSpc>
                <a:spcPct val="134300"/>
              </a:lnSpc>
              <a:spcBef>
                <a:spcPts val="25"/>
              </a:spcBef>
            </a:pPr>
            <a:r>
              <a:rPr sz="2900" spc="100" dirty="0">
                <a:solidFill>
                  <a:srgbClr val="333D4F"/>
                </a:solidFill>
                <a:latin typeface="Arial"/>
                <a:cs typeface="Arial"/>
              </a:rPr>
              <a:t>Grafik</a:t>
            </a:r>
            <a:r>
              <a:rPr sz="2900" spc="14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85" dirty="0">
                <a:solidFill>
                  <a:srgbClr val="333D4F"/>
                </a:solidFill>
                <a:latin typeface="Arial"/>
                <a:cs typeface="Arial"/>
              </a:rPr>
              <a:t>menunjukkan</a:t>
            </a:r>
            <a:r>
              <a:rPr sz="2900" spc="3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100" dirty="0">
                <a:solidFill>
                  <a:srgbClr val="333D4F"/>
                </a:solidFill>
                <a:latin typeface="Arial"/>
                <a:cs typeface="Arial"/>
              </a:rPr>
              <a:t>penurunan</a:t>
            </a:r>
            <a:r>
              <a:rPr sz="2900" spc="2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105" dirty="0">
                <a:solidFill>
                  <a:srgbClr val="333D4F"/>
                </a:solidFill>
                <a:latin typeface="Arial"/>
                <a:cs typeface="Arial"/>
              </a:rPr>
              <a:t>drastis</a:t>
            </a:r>
            <a:r>
              <a:rPr sz="2900" spc="3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75" dirty="0">
                <a:solidFill>
                  <a:srgbClr val="333D4F"/>
                </a:solidFill>
                <a:latin typeface="Arial"/>
                <a:cs typeface="Arial"/>
              </a:rPr>
              <a:t>(''siku'') </a:t>
            </a:r>
            <a:r>
              <a:rPr sz="2900" spc="90" dirty="0">
                <a:solidFill>
                  <a:srgbClr val="333D4F"/>
                </a:solidFill>
                <a:latin typeface="Arial"/>
                <a:cs typeface="Arial"/>
              </a:rPr>
              <a:t>pada</a:t>
            </a:r>
            <a:r>
              <a:rPr sz="2900" spc="4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b="1" spc="70" dirty="0">
                <a:solidFill>
                  <a:srgbClr val="333D4F"/>
                </a:solidFill>
                <a:latin typeface="Arial"/>
                <a:cs typeface="Arial"/>
              </a:rPr>
              <a:t>K=2.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698748" y="9533114"/>
            <a:ext cx="8322945" cy="121983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2900" dirty="0">
                <a:solidFill>
                  <a:srgbClr val="333D4F"/>
                </a:solidFill>
                <a:latin typeface="Arial"/>
                <a:cs typeface="Arial"/>
              </a:rPr>
              <a:t>Skar</a:t>
            </a:r>
            <a:r>
              <a:rPr sz="2900" spc="229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85" dirty="0">
                <a:solidFill>
                  <a:srgbClr val="333D4F"/>
                </a:solidFill>
                <a:latin typeface="Arial"/>
                <a:cs typeface="Arial"/>
              </a:rPr>
              <a:t>Silhouette</a:t>
            </a:r>
            <a:r>
              <a:rPr sz="2900" spc="24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90" dirty="0">
                <a:solidFill>
                  <a:srgbClr val="333D4F"/>
                </a:solidFill>
                <a:latin typeface="Arial"/>
                <a:cs typeface="Arial"/>
              </a:rPr>
              <a:t>rata-</a:t>
            </a:r>
            <a:r>
              <a:rPr sz="2900" spc="95" dirty="0">
                <a:solidFill>
                  <a:srgbClr val="333D4F"/>
                </a:solidFill>
                <a:latin typeface="Arial"/>
                <a:cs typeface="Arial"/>
              </a:rPr>
              <a:t>rata</a:t>
            </a:r>
            <a:r>
              <a:rPr sz="2900" spc="18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140" dirty="0">
                <a:solidFill>
                  <a:srgbClr val="333D4F"/>
                </a:solidFill>
                <a:latin typeface="Arial"/>
                <a:cs typeface="Arial"/>
              </a:rPr>
              <a:t>tertinggi</a:t>
            </a:r>
            <a:r>
              <a:rPr sz="2900" spc="229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110" dirty="0">
                <a:solidFill>
                  <a:srgbClr val="333D4F"/>
                </a:solidFill>
                <a:latin typeface="Arial"/>
                <a:cs typeface="Arial"/>
              </a:rPr>
              <a:t>dicapai</a:t>
            </a:r>
            <a:r>
              <a:rPr sz="2900" spc="16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00" spc="70" dirty="0">
                <a:solidFill>
                  <a:srgbClr val="333D4F"/>
                </a:solidFill>
                <a:latin typeface="Arial"/>
                <a:cs typeface="Arial"/>
              </a:rPr>
              <a:t>pada</a:t>
            </a:r>
            <a:endParaRPr sz="2900">
              <a:latin typeface="Arial"/>
              <a:cs typeface="Arial"/>
            </a:endParaRPr>
          </a:p>
          <a:p>
            <a:pPr marR="7620" algn="ctr">
              <a:lnSpc>
                <a:spcPct val="100000"/>
              </a:lnSpc>
              <a:spcBef>
                <a:spcPts val="1195"/>
              </a:spcBef>
            </a:pPr>
            <a:r>
              <a:rPr sz="3000" b="1" spc="70" dirty="0">
                <a:solidFill>
                  <a:srgbClr val="333D4F"/>
                </a:solidFill>
                <a:latin typeface="Arial"/>
                <a:cs typeface="Arial"/>
              </a:rPr>
              <a:t>K=2.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79E0EC-8A14-C24D-AAD3-8E87FFAFD1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6" y="2699899"/>
            <a:ext cx="8285404" cy="60887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92933A2-B1D0-D132-E628-A82398FBFF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492" y="2592958"/>
            <a:ext cx="8078327" cy="6294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13" y="1039586"/>
            <a:ext cx="346079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161" y="5040073"/>
            <a:ext cx="1667472" cy="2141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8865" y="5055823"/>
            <a:ext cx="1636010" cy="21262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92300" y="6662318"/>
            <a:ext cx="534849" cy="519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5804" y="5071573"/>
            <a:ext cx="975313" cy="20789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8658" y="5040073"/>
            <a:ext cx="2454015" cy="21419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28120" y="1937329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15"/>
              </a:spcBef>
            </a:pPr>
            <a:r>
              <a:rPr b="0" spc="60" dirty="0">
                <a:latin typeface="Arial"/>
                <a:cs typeface="Arial"/>
              </a:rPr>
              <a:t>.</a:t>
            </a:r>
            <a:r>
              <a:rPr b="0" spc="390" dirty="0">
                <a:latin typeface="Arial"/>
                <a:cs typeface="Arial"/>
              </a:rPr>
              <a:t> </a:t>
            </a:r>
            <a:r>
              <a:rPr spc="320" dirty="0"/>
              <a:t>Evaluation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13328" y="3011376"/>
            <a:ext cx="8382634" cy="4457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350" b="1" dirty="0">
                <a:solidFill>
                  <a:srgbClr val="0F1626"/>
                </a:solidFill>
                <a:latin typeface="Arial"/>
                <a:cs typeface="Arial"/>
              </a:rPr>
              <a:t>lnterpretasi</a:t>
            </a:r>
            <a:r>
              <a:rPr sz="2350" b="1" spc="105" dirty="0">
                <a:solidFill>
                  <a:srgbClr val="0F1626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0F1626"/>
                </a:solidFill>
                <a:latin typeface="Arial"/>
                <a:cs typeface="Arial"/>
              </a:rPr>
              <a:t>Evaluasi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350">
              <a:latin typeface="Arial"/>
              <a:cs typeface="Arial"/>
            </a:endParaRPr>
          </a:p>
          <a:p>
            <a:pPr marL="28575" algn="just">
              <a:lnSpc>
                <a:spcPct val="100000"/>
              </a:lnSpc>
            </a:pPr>
            <a:r>
              <a:rPr sz="3000" spc="90" dirty="0">
                <a:solidFill>
                  <a:srgbClr val="333D4F"/>
                </a:solidFill>
                <a:latin typeface="Arial"/>
                <a:cs typeface="Arial"/>
              </a:rPr>
              <a:t>Model</a:t>
            </a:r>
            <a:r>
              <a:rPr sz="3000" spc="22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memiliki</a:t>
            </a:r>
            <a:r>
              <a:rPr sz="3000" spc="27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5" dirty="0">
                <a:solidFill>
                  <a:srgbClr val="333D4F"/>
                </a:solidFill>
                <a:latin typeface="Arial"/>
                <a:cs typeface="Arial"/>
              </a:rPr>
              <a:t>performa</a:t>
            </a:r>
            <a:r>
              <a:rPr sz="3000" spc="44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yang</a:t>
            </a:r>
            <a:r>
              <a:rPr sz="3000" spc="22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333D4F"/>
                </a:solidFill>
                <a:latin typeface="Arial"/>
                <a:cs typeface="Arial"/>
              </a:rPr>
              <a:t>sangat</a:t>
            </a:r>
            <a:r>
              <a:rPr sz="2950" b="1" spc="-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333D4F"/>
                </a:solidFill>
                <a:latin typeface="Arial"/>
                <a:cs typeface="Arial"/>
              </a:rPr>
              <a:t>baik.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20"/>
              </a:spcBef>
            </a:pPr>
            <a:endParaRPr sz="3000">
              <a:latin typeface="Arial"/>
              <a:cs typeface="Arial"/>
            </a:endParaRPr>
          </a:p>
          <a:p>
            <a:pPr marL="19685" marR="5080" indent="6985" algn="just">
              <a:lnSpc>
                <a:spcPct val="133200"/>
              </a:lnSpc>
            </a:pP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Rasia</a:t>
            </a:r>
            <a:r>
              <a:rPr sz="3000" spc="1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93.1%</a:t>
            </a:r>
            <a:r>
              <a:rPr sz="3000" spc="36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menunjukkan</a:t>
            </a:r>
            <a:r>
              <a:rPr sz="3000" spc="2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bahwa</a:t>
            </a:r>
            <a:r>
              <a:rPr sz="3000" spc="2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333D4F"/>
                </a:solidFill>
                <a:latin typeface="Arial"/>
                <a:cs typeface="Arial"/>
              </a:rPr>
              <a:t>cluster</a:t>
            </a:r>
            <a:r>
              <a:rPr sz="3000" spc="24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333D4F"/>
                </a:solidFill>
                <a:latin typeface="Arial"/>
                <a:cs typeface="Arial"/>
              </a:rPr>
              <a:t>yang </a:t>
            </a:r>
            <a:r>
              <a:rPr sz="3000" spc="80" dirty="0">
                <a:solidFill>
                  <a:srgbClr val="333D4F"/>
                </a:solidFill>
                <a:latin typeface="Arial"/>
                <a:cs typeface="Arial"/>
              </a:rPr>
              <a:t>terbentuk</a:t>
            </a:r>
            <a:r>
              <a:rPr sz="3000" spc="459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sangat</a:t>
            </a:r>
            <a:r>
              <a:rPr sz="3000" spc="3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homogen</a:t>
            </a:r>
            <a:r>
              <a:rPr sz="3000" spc="33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(mirip)</a:t>
            </a:r>
            <a:r>
              <a:rPr sz="3000" spc="5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di</a:t>
            </a:r>
            <a:r>
              <a:rPr sz="3000" spc="31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dalamnya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dan</a:t>
            </a:r>
            <a:r>
              <a:rPr sz="3000" spc="12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33D4F"/>
                </a:solidFill>
                <a:latin typeface="Arial"/>
                <a:cs typeface="Arial"/>
              </a:rPr>
              <a:t>memiliki</a:t>
            </a:r>
            <a:r>
              <a:rPr sz="3000" spc="2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5" dirty="0">
                <a:solidFill>
                  <a:srgbClr val="333D4F"/>
                </a:solidFill>
                <a:latin typeface="Arial"/>
                <a:cs typeface="Arial"/>
              </a:rPr>
              <a:t>perbedaan</a:t>
            </a:r>
            <a:r>
              <a:rPr sz="3000" spc="35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yang</a:t>
            </a:r>
            <a:r>
              <a:rPr sz="3000" spc="26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sangat</a:t>
            </a:r>
            <a:r>
              <a:rPr sz="3000" spc="38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5" dirty="0">
                <a:solidFill>
                  <a:srgbClr val="333D4F"/>
                </a:solidFill>
                <a:latin typeface="Arial"/>
                <a:cs typeface="Arial"/>
              </a:rPr>
              <a:t>signifikan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antar</a:t>
            </a:r>
            <a:r>
              <a:rPr sz="3000" spc="23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33D4F"/>
                </a:solidFill>
                <a:latin typeface="Arial"/>
                <a:cs typeface="Arial"/>
              </a:rPr>
              <a:t>cluster.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4043" y="7551304"/>
            <a:ext cx="4245610" cy="663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28139" algn="l"/>
              </a:tabLst>
            </a:pPr>
            <a:r>
              <a:rPr sz="4150" b="1" spc="-25" dirty="0">
                <a:solidFill>
                  <a:srgbClr val="333D4F"/>
                </a:solidFill>
                <a:latin typeface="Arial"/>
                <a:cs typeface="Arial"/>
              </a:rPr>
              <a:t>BSS</a:t>
            </a:r>
            <a:r>
              <a:rPr sz="4150" b="1" dirty="0">
                <a:solidFill>
                  <a:srgbClr val="333D4F"/>
                </a:solidFill>
                <a:latin typeface="Arial"/>
                <a:cs typeface="Arial"/>
              </a:rPr>
              <a:t>	</a:t>
            </a:r>
            <a:r>
              <a:rPr sz="4150" b="1" spc="155" dirty="0">
                <a:solidFill>
                  <a:srgbClr val="333D4F"/>
                </a:solidFill>
                <a:latin typeface="Arial"/>
                <a:cs typeface="Arial"/>
              </a:rPr>
              <a:t>TSS</a:t>
            </a:r>
            <a:r>
              <a:rPr sz="4150" b="1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4150" b="1" spc="35" dirty="0">
                <a:solidFill>
                  <a:srgbClr val="333D4F"/>
                </a:solidFill>
                <a:latin typeface="Arial"/>
                <a:cs typeface="Arial"/>
              </a:rPr>
              <a:t>Ratio</a:t>
            </a:r>
            <a:endParaRPr sz="4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9834" y="8190752"/>
            <a:ext cx="7988300" cy="123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2600"/>
              </a:lnSpc>
              <a:spcBef>
                <a:spcPts val="100"/>
              </a:spcBef>
            </a:pPr>
            <a:r>
              <a:rPr sz="3000" spc="90" dirty="0">
                <a:solidFill>
                  <a:srgbClr val="333D4F"/>
                </a:solidFill>
                <a:latin typeface="Arial"/>
                <a:cs typeface="Arial"/>
              </a:rPr>
              <a:t>Model</a:t>
            </a:r>
            <a:r>
              <a:rPr sz="3000" spc="28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55" dirty="0">
                <a:solidFill>
                  <a:srgbClr val="333D4F"/>
                </a:solidFill>
                <a:latin typeface="Arial"/>
                <a:cs typeface="Arial"/>
              </a:rPr>
              <a:t>mampu</a:t>
            </a:r>
            <a:r>
              <a:rPr sz="3000" spc="28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menjelaskan</a:t>
            </a:r>
            <a:r>
              <a:rPr sz="3000" spc="49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mayoritas</a:t>
            </a:r>
            <a:r>
              <a:rPr sz="3000" spc="4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333D4F"/>
                </a:solidFill>
                <a:latin typeface="Arial"/>
                <a:cs typeface="Arial"/>
              </a:rPr>
              <a:t>variasi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data</a:t>
            </a:r>
            <a:r>
              <a:rPr sz="3000" spc="270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33D4F"/>
                </a:solidFill>
                <a:latin typeface="Arial"/>
                <a:cs typeface="Arial"/>
              </a:rPr>
              <a:t>yang</a:t>
            </a:r>
            <a:r>
              <a:rPr sz="3000" spc="215" dirty="0">
                <a:solidFill>
                  <a:srgbClr val="333D4F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333D4F"/>
                </a:solidFill>
                <a:latin typeface="Arial"/>
                <a:cs typeface="Arial"/>
              </a:rPr>
              <a:t>ada.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13" y="1008087"/>
            <a:ext cx="8384556" cy="661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5828" y="1039586"/>
            <a:ext cx="424733" cy="503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121" y="3622577"/>
            <a:ext cx="47192" cy="41894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9978" y="6032320"/>
            <a:ext cx="1934897" cy="8662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86685" y="6237070"/>
            <a:ext cx="534849" cy="535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7613" y="6032320"/>
            <a:ext cx="1966358" cy="866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28120" y="1937329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037881" y="948134"/>
            <a:ext cx="182943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325" dirty="0">
                <a:solidFill>
                  <a:srgbClr val="0F1526"/>
                </a:solidFill>
              </a:rPr>
              <a:t>luster</a:t>
            </a:r>
          </a:p>
        </p:txBody>
      </p:sp>
      <p:sp>
        <p:nvSpPr>
          <p:cNvPr id="11" name="object 11"/>
          <p:cNvSpPr/>
          <p:nvPr/>
        </p:nvSpPr>
        <p:spPr>
          <a:xfrm>
            <a:off x="1072515" y="3343064"/>
            <a:ext cx="620395" cy="0"/>
          </a:xfrm>
          <a:custGeom>
            <a:avLst/>
            <a:gdLst/>
            <a:ahLst/>
            <a:cxnLst/>
            <a:rect l="l" t="t" r="r" b="b"/>
            <a:pathLst>
              <a:path w="620394">
                <a:moveTo>
                  <a:pt x="0" y="0"/>
                </a:moveTo>
                <a:lnTo>
                  <a:pt x="620299" y="0"/>
                </a:lnTo>
              </a:path>
            </a:pathLst>
          </a:custGeom>
          <a:ln w="28771">
            <a:solidFill>
              <a:srgbClr val="CBD0D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89406" y="3343064"/>
            <a:ext cx="746125" cy="0"/>
          </a:xfrm>
          <a:custGeom>
            <a:avLst/>
            <a:gdLst/>
            <a:ahLst/>
            <a:cxnLst/>
            <a:rect l="l" t="t" r="r" b="b"/>
            <a:pathLst>
              <a:path w="746125">
                <a:moveTo>
                  <a:pt x="0" y="0"/>
                </a:moveTo>
                <a:lnTo>
                  <a:pt x="746114" y="0"/>
                </a:lnTo>
              </a:path>
            </a:pathLst>
          </a:custGeom>
          <a:ln w="28771">
            <a:solidFill>
              <a:srgbClr val="CBD0D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62089" y="2979879"/>
            <a:ext cx="1744980" cy="61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0635" algn="l"/>
              </a:tabLst>
            </a:pPr>
            <a:r>
              <a:rPr sz="3850" spc="-1230" dirty="0">
                <a:solidFill>
                  <a:srgbClr val="CCD1DA"/>
                </a:solidFill>
                <a:latin typeface="Courier New"/>
                <a:cs typeface="Courier New"/>
              </a:rPr>
              <a:t>-</a:t>
            </a:r>
            <a:r>
              <a:rPr sz="3850" dirty="0">
                <a:solidFill>
                  <a:srgbClr val="CCD1DA"/>
                </a:solidFill>
                <a:latin typeface="Courier New"/>
                <a:cs typeface="Courier New"/>
              </a:rPr>
              <a:t>	</a:t>
            </a:r>
            <a:r>
              <a:rPr sz="3850" spc="-1180" dirty="0">
                <a:solidFill>
                  <a:srgbClr val="CCD1DA"/>
                </a:solidFill>
                <a:latin typeface="Courier New"/>
                <a:cs typeface="Courier New"/>
              </a:rPr>
              <a:t>-</a:t>
            </a:r>
            <a:r>
              <a:rPr sz="3850" spc="-990" dirty="0">
                <a:solidFill>
                  <a:srgbClr val="CCD1DA"/>
                </a:solidFill>
                <a:latin typeface="Courier New"/>
                <a:cs typeface="Courier New"/>
              </a:rPr>
              <a:t> </a:t>
            </a:r>
            <a:r>
              <a:rPr sz="3850" spc="-1230" dirty="0">
                <a:solidFill>
                  <a:srgbClr val="CCD1DA"/>
                </a:solidFill>
                <a:latin typeface="Courier New"/>
                <a:cs typeface="Courier New"/>
              </a:rPr>
              <a:t>-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62493" y="3343064"/>
            <a:ext cx="1978025" cy="0"/>
          </a:xfrm>
          <a:custGeom>
            <a:avLst/>
            <a:gdLst/>
            <a:ahLst/>
            <a:cxnLst/>
            <a:rect l="l" t="t" r="r" b="b"/>
            <a:pathLst>
              <a:path w="1978025">
                <a:moveTo>
                  <a:pt x="0" y="0"/>
                </a:moveTo>
                <a:lnTo>
                  <a:pt x="1977935" y="0"/>
                </a:lnTo>
              </a:path>
            </a:pathLst>
          </a:custGeom>
          <a:ln w="28771">
            <a:solidFill>
              <a:srgbClr val="CBD0D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4814" y="3343064"/>
            <a:ext cx="3476625" cy="0"/>
          </a:xfrm>
          <a:custGeom>
            <a:avLst/>
            <a:gdLst/>
            <a:ahLst/>
            <a:cxnLst/>
            <a:rect l="l" t="t" r="r" b="b"/>
            <a:pathLst>
              <a:path w="3476625">
                <a:moveTo>
                  <a:pt x="0" y="0"/>
                </a:moveTo>
                <a:lnTo>
                  <a:pt x="3476017" y="0"/>
                </a:lnTo>
              </a:path>
            </a:pathLst>
          </a:custGeom>
          <a:ln w="28771">
            <a:solidFill>
              <a:srgbClr val="CBD0D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9648" y="3409065"/>
            <a:ext cx="52069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35" dirty="0">
                <a:solidFill>
                  <a:srgbClr val="CCD1DA"/>
                </a:solidFill>
                <a:latin typeface="Times New Roman"/>
                <a:cs typeface="Times New Roman"/>
              </a:rPr>
              <a:t>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/>
              <a:t>lnterpretasi</a:t>
            </a:r>
            <a:r>
              <a:rPr spc="105" dirty="0"/>
              <a:t> </a:t>
            </a:r>
            <a:r>
              <a:rPr spc="40" dirty="0"/>
              <a:t>Hasil</a:t>
            </a:r>
          </a:p>
          <a:p>
            <a:pPr marL="1122680" marR="140970" indent="-490855">
              <a:lnSpc>
                <a:spcPct val="128400"/>
              </a:lnSpc>
              <a:spcBef>
                <a:spcPts val="595"/>
              </a:spcBef>
              <a:tabLst>
                <a:tab pos="1117600" algn="l"/>
              </a:tabLst>
            </a:pPr>
            <a:r>
              <a:rPr sz="3600" spc="50" dirty="0">
                <a:solidFill>
                  <a:srgbClr val="EB4246"/>
                </a:solidFill>
              </a:rPr>
              <a:t>e</a:t>
            </a:r>
            <a:r>
              <a:rPr sz="3600" dirty="0">
                <a:solidFill>
                  <a:srgbClr val="EB4246"/>
                </a:solidFill>
              </a:rPr>
              <a:t>	</a:t>
            </a:r>
            <a:r>
              <a:rPr sz="2950" spc="50" dirty="0">
                <a:solidFill>
                  <a:srgbClr val="333F50"/>
                </a:solidFill>
              </a:rPr>
              <a:t>Cluster</a:t>
            </a:r>
            <a:r>
              <a:rPr sz="2950" spc="-155" dirty="0">
                <a:solidFill>
                  <a:srgbClr val="333F50"/>
                </a:solidFill>
              </a:rPr>
              <a:t> </a:t>
            </a:r>
            <a:r>
              <a:rPr sz="2950" spc="65" dirty="0">
                <a:solidFill>
                  <a:srgbClr val="333F50"/>
                </a:solidFill>
              </a:rPr>
              <a:t>1</a:t>
            </a:r>
            <a:r>
              <a:rPr sz="2950" spc="-345" dirty="0">
                <a:solidFill>
                  <a:srgbClr val="333F50"/>
                </a:solidFill>
              </a:rPr>
              <a:t> </a:t>
            </a:r>
            <a:r>
              <a:rPr sz="2950" spc="100" dirty="0">
                <a:solidFill>
                  <a:srgbClr val="333F50"/>
                </a:solidFill>
              </a:rPr>
              <a:t>(Merah)</a:t>
            </a:r>
            <a:r>
              <a:rPr sz="2950" spc="50" dirty="0">
                <a:solidFill>
                  <a:srgbClr val="333F50"/>
                </a:solidFill>
              </a:rPr>
              <a:t> </a:t>
            </a:r>
            <a:r>
              <a:rPr sz="2950" b="0" spc="65" dirty="0">
                <a:solidFill>
                  <a:srgbClr val="333F50"/>
                </a:solidFill>
                <a:latin typeface="Arial"/>
                <a:cs typeface="Arial"/>
              </a:rPr>
              <a:t>-</a:t>
            </a:r>
            <a:r>
              <a:rPr sz="2950" b="0" spc="3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2950" spc="110" dirty="0">
                <a:solidFill>
                  <a:srgbClr val="333F50"/>
                </a:solidFill>
              </a:rPr>
              <a:t>30</a:t>
            </a:r>
            <a:r>
              <a:rPr sz="2950" spc="265" dirty="0">
                <a:solidFill>
                  <a:srgbClr val="333F50"/>
                </a:solidFill>
              </a:rPr>
              <a:t> </a:t>
            </a:r>
            <a:r>
              <a:rPr sz="2950" spc="-10" dirty="0">
                <a:solidFill>
                  <a:srgbClr val="333F50"/>
                </a:solidFill>
              </a:rPr>
              <a:t>Provinsi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Kelompok</a:t>
            </a:r>
            <a:r>
              <a:rPr sz="3000" b="0" spc="52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mayoritas</a:t>
            </a:r>
            <a:r>
              <a:rPr sz="3000" b="0" spc="50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60" dirty="0">
                <a:solidFill>
                  <a:srgbClr val="333F50"/>
                </a:solidFill>
                <a:latin typeface="Arial"/>
                <a:cs typeface="Arial"/>
              </a:rPr>
              <a:t>dengan</a:t>
            </a:r>
            <a:r>
              <a:rPr sz="3000" b="0" spc="24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angka</a:t>
            </a:r>
            <a:r>
              <a:rPr sz="3000" b="0" spc="33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-10" dirty="0">
                <a:solidFill>
                  <a:srgbClr val="333F50"/>
                </a:solidFill>
                <a:latin typeface="Arial"/>
                <a:cs typeface="Arial"/>
              </a:rPr>
              <a:t>nikah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dan</a:t>
            </a:r>
            <a:r>
              <a:rPr sz="3000" b="0" spc="8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70" dirty="0">
                <a:solidFill>
                  <a:srgbClr val="333F50"/>
                </a:solidFill>
                <a:latin typeface="Arial"/>
                <a:cs typeface="Arial"/>
              </a:rPr>
              <a:t>cerai</a:t>
            </a:r>
            <a:r>
              <a:rPr sz="3000" b="0" spc="9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65" dirty="0">
                <a:solidFill>
                  <a:srgbClr val="333F50"/>
                </a:solidFill>
                <a:latin typeface="Arial"/>
                <a:cs typeface="Arial"/>
              </a:rPr>
              <a:t>relatif</a:t>
            </a:r>
            <a:r>
              <a:rPr sz="3000" b="0" spc="28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333F50"/>
                </a:solidFill>
                <a:latin typeface="Arial"/>
                <a:cs typeface="Arial"/>
              </a:rPr>
              <a:t>rendah</a:t>
            </a:r>
            <a:r>
              <a:rPr sz="3000" b="0" spc="13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333F50"/>
                </a:solidFill>
                <a:latin typeface="Arial"/>
                <a:cs typeface="Arial"/>
              </a:rPr>
              <a:t>hingga</a:t>
            </a:r>
            <a:r>
              <a:rPr sz="3000" b="0" spc="28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45" dirty="0">
                <a:solidFill>
                  <a:srgbClr val="333F50"/>
                </a:solidFill>
                <a:latin typeface="Arial"/>
                <a:cs typeface="Arial"/>
              </a:rPr>
              <a:t>sedang.</a:t>
            </a:r>
            <a:endParaRPr sz="3000">
              <a:latin typeface="Arial"/>
              <a:cs typeface="Arial"/>
            </a:endParaRPr>
          </a:p>
          <a:p>
            <a:pPr marL="632460">
              <a:lnSpc>
                <a:spcPct val="100000"/>
              </a:lnSpc>
              <a:spcBef>
                <a:spcPts val="2370"/>
              </a:spcBef>
              <a:tabLst>
                <a:tab pos="1117600" algn="l"/>
              </a:tabLst>
            </a:pPr>
            <a:r>
              <a:rPr sz="3600" spc="30" dirty="0">
                <a:solidFill>
                  <a:srgbClr val="3B80F0"/>
                </a:solidFill>
              </a:rPr>
              <a:t>e</a:t>
            </a:r>
            <a:r>
              <a:rPr sz="3600" dirty="0">
                <a:solidFill>
                  <a:srgbClr val="3B80F0"/>
                </a:solidFill>
              </a:rPr>
              <a:t>	</a:t>
            </a:r>
            <a:r>
              <a:rPr sz="2950" spc="50" dirty="0">
                <a:solidFill>
                  <a:srgbClr val="333F50"/>
                </a:solidFill>
              </a:rPr>
              <a:t>Cluster</a:t>
            </a:r>
            <a:r>
              <a:rPr sz="2950" spc="20" dirty="0">
                <a:solidFill>
                  <a:srgbClr val="333F50"/>
                </a:solidFill>
              </a:rPr>
              <a:t> </a:t>
            </a:r>
            <a:r>
              <a:rPr sz="2950" spc="65" dirty="0">
                <a:solidFill>
                  <a:srgbClr val="333F50"/>
                </a:solidFill>
              </a:rPr>
              <a:t>2</a:t>
            </a:r>
            <a:r>
              <a:rPr sz="2950" dirty="0">
                <a:solidFill>
                  <a:srgbClr val="333F50"/>
                </a:solidFill>
              </a:rPr>
              <a:t> (Biru)</a:t>
            </a:r>
            <a:r>
              <a:rPr sz="2950" spc="10" dirty="0">
                <a:solidFill>
                  <a:srgbClr val="333F50"/>
                </a:solidFill>
              </a:rPr>
              <a:t> </a:t>
            </a:r>
            <a:r>
              <a:rPr sz="2950" b="0" dirty="0">
                <a:solidFill>
                  <a:srgbClr val="333F50"/>
                </a:solidFill>
                <a:latin typeface="Arial"/>
                <a:cs typeface="Arial"/>
              </a:rPr>
              <a:t>-</a:t>
            </a:r>
            <a:r>
              <a:rPr sz="2950" b="0" spc="16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333F50"/>
                </a:solidFill>
              </a:rPr>
              <a:t>3</a:t>
            </a:r>
            <a:r>
              <a:rPr sz="2950" spc="25" dirty="0">
                <a:solidFill>
                  <a:srgbClr val="333F50"/>
                </a:solidFill>
              </a:rPr>
              <a:t> </a:t>
            </a:r>
            <a:r>
              <a:rPr sz="2950" spc="-10" dirty="0">
                <a:solidFill>
                  <a:srgbClr val="333F50"/>
                </a:solidFill>
              </a:rPr>
              <a:t>Provinsi</a:t>
            </a:r>
            <a:endParaRPr sz="2950">
              <a:latin typeface="Arial"/>
              <a:cs typeface="Arial"/>
            </a:endParaRPr>
          </a:p>
          <a:p>
            <a:pPr marL="1126490" marR="5080" indent="-3810">
              <a:lnSpc>
                <a:spcPct val="131300"/>
              </a:lnSpc>
              <a:spcBef>
                <a:spcPts val="50"/>
              </a:spcBef>
              <a:tabLst>
                <a:tab pos="3013710" algn="l"/>
              </a:tabLst>
            </a:pPr>
            <a:r>
              <a:rPr sz="3000" b="0" spc="-10" dirty="0">
                <a:solidFill>
                  <a:srgbClr val="333F50"/>
                </a:solidFill>
                <a:latin typeface="Arial"/>
                <a:cs typeface="Arial"/>
              </a:rPr>
              <a:t>Kelompok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	</a:t>
            </a:r>
            <a:r>
              <a:rPr sz="3000" b="0" spc="65" dirty="0">
                <a:solidFill>
                  <a:srgbClr val="333F50"/>
                </a:solidFill>
                <a:latin typeface="Arial"/>
                <a:cs typeface="Arial"/>
              </a:rPr>
              <a:t>''Outlier/Ekstrem''</a:t>
            </a:r>
            <a:r>
              <a:rPr sz="3000" b="0" spc="12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yang</a:t>
            </a:r>
            <a:r>
              <a:rPr sz="3000" b="0" spc="19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100" dirty="0">
                <a:solidFill>
                  <a:srgbClr val="333F50"/>
                </a:solidFill>
                <a:latin typeface="Arial"/>
                <a:cs typeface="Arial"/>
              </a:rPr>
              <a:t>terdiri </a:t>
            </a:r>
            <a:r>
              <a:rPr sz="3000" b="0" spc="70" dirty="0">
                <a:solidFill>
                  <a:srgbClr val="333F50"/>
                </a:solidFill>
                <a:latin typeface="Arial"/>
                <a:cs typeface="Arial"/>
              </a:rPr>
              <a:t>dari</a:t>
            </a:r>
            <a:r>
              <a:rPr sz="3000" b="0" spc="8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2950" spc="100" dirty="0">
                <a:solidFill>
                  <a:srgbClr val="333F50"/>
                </a:solidFill>
              </a:rPr>
              <a:t>Jawa</a:t>
            </a:r>
            <a:r>
              <a:rPr sz="2950" spc="-160" dirty="0">
                <a:solidFill>
                  <a:srgbClr val="333F50"/>
                </a:solidFill>
              </a:rPr>
              <a:t> </a:t>
            </a:r>
            <a:r>
              <a:rPr sz="2950" spc="65" dirty="0">
                <a:solidFill>
                  <a:srgbClr val="333F50"/>
                </a:solidFill>
              </a:rPr>
              <a:t>Barat,</a:t>
            </a:r>
            <a:r>
              <a:rPr sz="2950" spc="-220" dirty="0">
                <a:solidFill>
                  <a:srgbClr val="333F50"/>
                </a:solidFill>
              </a:rPr>
              <a:t> </a:t>
            </a:r>
            <a:r>
              <a:rPr sz="2950" spc="100" dirty="0">
                <a:solidFill>
                  <a:srgbClr val="333F50"/>
                </a:solidFill>
              </a:rPr>
              <a:t>Jawa</a:t>
            </a:r>
            <a:r>
              <a:rPr sz="2950" spc="-70" dirty="0">
                <a:solidFill>
                  <a:srgbClr val="333F50"/>
                </a:solidFill>
              </a:rPr>
              <a:t> </a:t>
            </a:r>
            <a:r>
              <a:rPr sz="2950" dirty="0">
                <a:solidFill>
                  <a:srgbClr val="333F50"/>
                </a:solidFill>
              </a:rPr>
              <a:t>Tengah,</a:t>
            </a:r>
            <a:r>
              <a:rPr sz="2950" spc="-175" dirty="0">
                <a:solidFill>
                  <a:srgbClr val="333F50"/>
                </a:solidFill>
              </a:rPr>
              <a:t> </a:t>
            </a:r>
            <a:r>
              <a:rPr sz="2950" spc="80" dirty="0">
                <a:solidFill>
                  <a:srgbClr val="333F50"/>
                </a:solidFill>
              </a:rPr>
              <a:t>dan</a:t>
            </a:r>
            <a:r>
              <a:rPr sz="2950" spc="-180" dirty="0">
                <a:solidFill>
                  <a:srgbClr val="333F50"/>
                </a:solidFill>
              </a:rPr>
              <a:t> </a:t>
            </a:r>
            <a:r>
              <a:rPr sz="2950" spc="80" dirty="0">
                <a:solidFill>
                  <a:srgbClr val="333F50"/>
                </a:solidFill>
              </a:rPr>
              <a:t>Jawa </a:t>
            </a:r>
            <a:r>
              <a:rPr sz="2950" spc="55" dirty="0">
                <a:solidFill>
                  <a:srgbClr val="333F50"/>
                </a:solidFill>
              </a:rPr>
              <a:t>Timur.</a:t>
            </a:r>
            <a:r>
              <a:rPr sz="2950" spc="204" dirty="0">
                <a:solidFill>
                  <a:srgbClr val="333F50"/>
                </a:solidFill>
              </a:rPr>
              <a:t>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Provinsi</a:t>
            </a:r>
            <a:r>
              <a:rPr sz="3000" b="0" spc="19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95" dirty="0">
                <a:solidFill>
                  <a:srgbClr val="333F50"/>
                </a:solidFill>
                <a:latin typeface="Arial"/>
                <a:cs typeface="Arial"/>
              </a:rPr>
              <a:t>ini</a:t>
            </a:r>
            <a:r>
              <a:rPr sz="3000" b="0" spc="2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60" dirty="0">
                <a:solidFill>
                  <a:srgbClr val="333F50"/>
                </a:solidFill>
                <a:latin typeface="Arial"/>
                <a:cs typeface="Arial"/>
              </a:rPr>
              <a:t>memiliki</a:t>
            </a:r>
            <a:r>
              <a:rPr sz="3000" b="0" spc="31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333F50"/>
                </a:solidFill>
                <a:latin typeface="Arial"/>
                <a:cs typeface="Arial"/>
              </a:rPr>
              <a:t>statistik</a:t>
            </a:r>
            <a:r>
              <a:rPr sz="3000" b="0" spc="30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-20" dirty="0">
                <a:solidFill>
                  <a:srgbClr val="333F50"/>
                </a:solidFill>
                <a:latin typeface="Arial"/>
                <a:cs typeface="Arial"/>
              </a:rPr>
              <a:t>yang </a:t>
            </a:r>
            <a:r>
              <a:rPr sz="3000" b="0" dirty="0">
                <a:solidFill>
                  <a:srgbClr val="333F50"/>
                </a:solidFill>
                <a:latin typeface="Arial"/>
                <a:cs typeface="Arial"/>
              </a:rPr>
              <a:t>sangat</a:t>
            </a:r>
            <a:r>
              <a:rPr sz="3000" b="0" spc="254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125" dirty="0">
                <a:solidFill>
                  <a:srgbClr val="333F50"/>
                </a:solidFill>
                <a:latin typeface="Arial"/>
                <a:cs typeface="Arial"/>
              </a:rPr>
              <a:t>tinggi</a:t>
            </a:r>
            <a:r>
              <a:rPr sz="3000" b="0" spc="130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65" dirty="0">
                <a:solidFill>
                  <a:srgbClr val="333F50"/>
                </a:solidFill>
                <a:latin typeface="Arial"/>
                <a:cs typeface="Arial"/>
              </a:rPr>
              <a:t>dibandingkan</a:t>
            </a:r>
            <a:r>
              <a:rPr sz="3000" b="0" spc="265" dirty="0">
                <a:solidFill>
                  <a:srgbClr val="333F50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333F50"/>
                </a:solidFill>
                <a:latin typeface="Arial"/>
                <a:cs typeface="Arial"/>
              </a:rPr>
              <a:t>provinsi </a:t>
            </a:r>
            <a:r>
              <a:rPr sz="3000" b="0" spc="-10" dirty="0">
                <a:solidFill>
                  <a:srgbClr val="333F50"/>
                </a:solidFill>
                <a:latin typeface="Arial"/>
                <a:cs typeface="Arial"/>
              </a:rPr>
              <a:t>lainnya.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16343" y="9627297"/>
            <a:ext cx="8058150" cy="0"/>
          </a:xfrm>
          <a:custGeom>
            <a:avLst/>
            <a:gdLst/>
            <a:ahLst/>
            <a:cxnLst/>
            <a:rect l="l" t="t" r="r" b="b"/>
            <a:pathLst>
              <a:path w="8058150">
                <a:moveTo>
                  <a:pt x="0" y="0"/>
                </a:moveTo>
                <a:lnTo>
                  <a:pt x="8058040" y="0"/>
                </a:lnTo>
              </a:path>
            </a:pathLst>
          </a:custGeom>
          <a:ln w="28771">
            <a:solidFill>
              <a:srgbClr val="CBD0D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DC8666-EF7C-8B79-0272-F2324C26F4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1" y="2868213"/>
            <a:ext cx="10003567" cy="67590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7312" y="4095076"/>
            <a:ext cx="1132622" cy="755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862" y="4268325"/>
            <a:ext cx="582042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9287" y="4268325"/>
            <a:ext cx="818005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90215" y="4268325"/>
            <a:ext cx="519118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8224" y="4095076"/>
            <a:ext cx="1211276" cy="7559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82424" y="4268325"/>
            <a:ext cx="519118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80190" y="4284075"/>
            <a:ext cx="173039" cy="5512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7614" y="4095076"/>
            <a:ext cx="534849" cy="7402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11119556"/>
            <a:ext cx="20104100" cy="15749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8491279" y="3767376"/>
            <a:ext cx="13271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-785" dirty="0">
                <a:solidFill>
                  <a:srgbClr val="2660E4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329615" y="3767376"/>
            <a:ext cx="13271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785" dirty="0">
                <a:solidFill>
                  <a:srgbClr val="2660E4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12245" y="5646220"/>
            <a:ext cx="5676900" cy="123698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340"/>
              </a:spcBef>
            </a:pPr>
            <a:r>
              <a:rPr sz="3000" dirty="0">
                <a:solidFill>
                  <a:srgbClr val="313F50"/>
                </a:solidFill>
                <a:latin typeface="Arial"/>
                <a:cs typeface="Arial"/>
              </a:rPr>
              <a:t>Laporan</a:t>
            </a:r>
            <a:r>
              <a:rPr sz="3000" spc="305" dirty="0">
                <a:solidFill>
                  <a:srgbClr val="313F5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13F50"/>
                </a:solidFill>
                <a:latin typeface="Arial"/>
                <a:cs typeface="Arial"/>
              </a:rPr>
              <a:t>Analisis</a:t>
            </a:r>
            <a:r>
              <a:rPr sz="3000" spc="355" dirty="0">
                <a:solidFill>
                  <a:srgbClr val="313F5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313F50"/>
                </a:solidFill>
                <a:latin typeface="Arial"/>
                <a:cs typeface="Arial"/>
              </a:rPr>
              <a:t>Data</a:t>
            </a:r>
            <a:r>
              <a:rPr sz="3000" spc="335" dirty="0">
                <a:solidFill>
                  <a:srgbClr val="313F50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313F50"/>
                </a:solidFill>
                <a:latin typeface="Arial"/>
                <a:cs typeface="Arial"/>
              </a:rPr>
              <a:t>Mining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15"/>
              </a:spcBef>
            </a:pPr>
            <a:r>
              <a:rPr sz="2900" b="1" spc="114" dirty="0">
                <a:solidFill>
                  <a:srgbClr val="313F50"/>
                </a:solidFill>
                <a:latin typeface="Arial"/>
                <a:cs typeface="Arial"/>
              </a:rPr>
              <a:t>Evan</a:t>
            </a:r>
            <a:r>
              <a:rPr sz="2900" b="1" spc="-300" dirty="0">
                <a:solidFill>
                  <a:srgbClr val="313F50"/>
                </a:solidFill>
                <a:latin typeface="Arial"/>
                <a:cs typeface="Arial"/>
              </a:rPr>
              <a:t> </a:t>
            </a:r>
            <a:r>
              <a:rPr sz="2900" b="1" spc="95" dirty="0">
                <a:solidFill>
                  <a:srgbClr val="313F50"/>
                </a:solidFill>
                <a:latin typeface="Arial"/>
                <a:cs typeface="Arial"/>
              </a:rPr>
              <a:t>Ridwan</a:t>
            </a:r>
            <a:r>
              <a:rPr sz="2900" b="1" spc="-229" dirty="0">
                <a:solidFill>
                  <a:srgbClr val="313F50"/>
                </a:solidFill>
                <a:latin typeface="Arial"/>
                <a:cs typeface="Arial"/>
              </a:rPr>
              <a:t> </a:t>
            </a:r>
            <a:r>
              <a:rPr sz="2900" b="1" spc="55" dirty="0">
                <a:solidFill>
                  <a:srgbClr val="313F50"/>
                </a:solidFill>
                <a:latin typeface="Arial"/>
                <a:cs typeface="Arial"/>
              </a:rPr>
              <a:t>Rustandi</a:t>
            </a:r>
            <a:r>
              <a:rPr sz="2900" b="1" spc="-40" dirty="0">
                <a:solidFill>
                  <a:srgbClr val="313F50"/>
                </a:solidFill>
                <a:latin typeface="Arial"/>
                <a:cs typeface="Arial"/>
              </a:rPr>
              <a:t> </a:t>
            </a:r>
            <a:r>
              <a:rPr sz="2900" b="1" spc="60" dirty="0">
                <a:solidFill>
                  <a:srgbClr val="313F50"/>
                </a:solidFill>
                <a:latin typeface="Arial"/>
                <a:cs typeface="Arial"/>
              </a:rPr>
              <a:t>Saputra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358</Words>
  <Application>Microsoft Office PowerPoint</Application>
  <PresentationFormat>Custom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Courier New</vt:lpstr>
      <vt:lpstr>Times New Roman</vt:lpstr>
      <vt:lpstr>Office Theme</vt:lpstr>
      <vt:lpstr>PowerPoint Presentation</vt:lpstr>
      <vt:lpstr>1. Business</vt:lpstr>
      <vt:lpstr>. Data</vt:lpstr>
      <vt:lpstr>PowerPoint Presentation</vt:lpstr>
      <vt:lpstr>4. Penentuan K</vt:lpstr>
      <vt:lpstr>. Evaluation</vt:lpstr>
      <vt:lpstr>luster</vt:lpstr>
      <vt:lpstr>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Evan Ridwan</dc:creator>
  <cp:lastModifiedBy>evan evan</cp:lastModifiedBy>
  <cp:revision>2</cp:revision>
  <dcterms:created xsi:type="dcterms:W3CDTF">2025-11-16T11:23:32Z</dcterms:created>
  <dcterms:modified xsi:type="dcterms:W3CDTF">2025-11-17T01:32:34Z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LastSaved">
    <vt:filetime>2025-11-16T00:00:00Z</vt:filetime>
  </property>
</Properties>
</file>